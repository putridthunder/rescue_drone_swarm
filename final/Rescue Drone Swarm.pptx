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Rescue Drone Swarm: autonomous drones that search a disaster area together and find people faster than a single helicopter or a ground team. What you see on the right is our live simulation over real North Vancouver streets: six drones, two charging trucks, and every block they have searched shaded green. One minute in, eleven survivors are already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hours after a disaster, the people trapped have the best chance of survival. But helicopters and ground teams take time to get there, cost a lot for every hour, and put rescuers themselves in danger. We wanted to cover more ground, sooner, without sending people into harm's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Drones are carried and charged on rescue trucks parked at the perimeter. The operator just draws the area to search. Drones fly low between buildings at 20 metres, look at facades, avoid towers, and come back to the nearest truck to recharge on their own. The trucks themselves reposition toward where the drones are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drones don't follow fixed routes. Every drone reports what its camera has seen into one shared map. A central planner, the swarm's message board, scores every 100-metre block by how likely people are there, hazards, distance and battery, and auctions the blocks to the drones. When something changes, a survivor found, a drone failing, a flood coming, it re-plans the whole fleet straight away, and explains every decision in the app's decision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 blind grid search, the swarm starts informed. A Python pipeline processes open Earth-observation data: census-calibrated population to know where people are, an elevation model for flood zones, land cover to know where trees hide people from thermal cameras, and Sentinel-2 imagery for water and a satellite view. Buildings, their heights and every street come from OpenStreetMap.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where the drones' time went and fixed the waste. Blocks are swept in lawnmower lanes spaced to the camera's clear range. The planner ranks blocks by value per second of searching, which stopped the old checkerboard pattern of half-searched blocks the fleet had to fly back to. And the clean-up step no longer chases edge cells that the neighbouring block's sweep covers anyway; those were 72 percent of clean-up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come from repeatable benchmarks in our simulator, not estimates. Turning on the census-based population map, drones find 19.8 of 25 survivors within five minutes instead of 16. The search redesign cut full-mission time from 569 to 487 seconds with the same number of survivors found. And our regression test checks every drone position against the real building footprints of downtown Vancouver: zero flights through buildings, even when drones have no map and must discover buildings with their cameras.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planner adapts to any hazard. In our tsunami warning scenario, the elevation model tells the swarm which low-lying streets will flood. Their priority rises as the wave gets closer, the fleet is reassigned automatically, and anyone not found before impact is lost, so the metrics show how many lives the strategy actually saves. The example from our idea, a missing hiker in a forest with a flash flood coming, works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the algorithm works, we let people race it. You fly one drone with the keyboard, the algorithm flies an identical one from the same truck, and you both search for the same hidden survivors for two and a half minutes. Every result goes into Snowflake, so the History panel shows the running record of human against algorithm. Want to try? It's live on our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planner is hazard-agnostic: hazards are just layers on the map. Next we want to add wildfire spread and smoke, refresh flood maps from new satellite passes during a mission, and connect the same planner to real drones through a standard flight-control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Rescue Drone Swarm turns slow, expensive and risky manned searches into coordinated drone swarms that find people faster. Scan the code or go to rescue-drone-swarm.vercel.app to try it live, ideally on a laptop, race the algorithm, and tell us if you can beat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F1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222624"/>
            <a:ext cx="5283200" cy="894060"/>
          </a:xfrm>
          <a:prstGeom prst="rect">
            <a:avLst/>
          </a:prstGeom>
          <a:noFill/>
          <a:ln/>
        </p:spPr>
        <p:txBody>
          <a:bodyPr wrap="square" lIns="0" tIns="0" rIns="0" bIns="0" rtlCol="0" anchor="t"/>
          <a:lstStyle>
            <a:lvl1pPr algn="l" indent="0" marL="0">
              <a:lnSpc>
                <a:spcPct val="115000"/>
              </a:lnSpc>
              <a:buNone/>
              <a:defRPr lang="en-US" sz="3200" dirty="0">
                <a:solidFill>
                  <a:srgbClr val="1D2430"/>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3421484"/>
            <a:ext cx="10566400" cy="2623716"/>
          </a:xfrm>
          <a:prstGeom prst="rect">
            <a:avLst/>
          </a:prstGeom>
          <a:noFill/>
          <a:ln/>
        </p:spPr>
        <p:txBody>
          <a:bodyPr wrap="square" lIns="0" tIns="0" rIns="0" bIns="0" rtlCol="0" anchor="t"/>
          <a:lstStyle>
            <a:lvl1pPr algn="l" indent="0" marL="0">
              <a:lnSpc>
                <a:spcPct val="140000"/>
              </a:lnSpc>
              <a:buNone/>
              <a:defRPr lang="en-US" sz="1600" dirty="0">
                <a:solidFill>
                  <a:srgbClr val="1D243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1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222624"/>
            <a:ext cx="5283200" cy="894060"/>
          </a:xfrm>
          <a:prstGeom prst="rect">
            <a:avLst/>
          </a:prstGeom>
          <a:noFill/>
          <a:ln/>
        </p:spPr>
        <p:txBody>
          <a:bodyPr wrap="square" lIns="0" tIns="0" rIns="0" bIns="0" rtlCol="0" anchor="t"/>
          <a:lstStyle>
            <a:lvl1pPr algn="l" indent="0" marL="0">
              <a:lnSpc>
                <a:spcPct val="115000"/>
              </a:lnSpc>
              <a:buNone/>
              <a:defRPr lang="en-US" sz="3200" dirty="0">
                <a:solidFill>
                  <a:srgbClr val="1D2430"/>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3421484"/>
            <a:ext cx="10566400" cy="2623716"/>
          </a:xfrm>
          <a:prstGeom prst="rect">
            <a:avLst/>
          </a:prstGeom>
          <a:noFill/>
          <a:ln/>
        </p:spPr>
        <p:txBody>
          <a:bodyPr wrap="square" lIns="0" tIns="0" rIns="0" bIns="0" rtlCol="0" anchor="t"/>
          <a:lstStyle>
            <a:lvl1pPr algn="l" indent="0" marL="0">
              <a:lnSpc>
                <a:spcPct val="140000"/>
              </a:lnSpc>
              <a:buNone/>
              <a:defRPr lang="en-US" sz="1600" dirty="0">
                <a:solidFill>
                  <a:srgbClr val="1D243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e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rescue-drone-swarm.vercel.app/"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1720453"/>
            <a:ext cx="465683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AUTONOMOUS SEARCH &amp; RESCUE</a:t>
            </a:r>
            <a:endParaRPr lang="en-US" sz="1200" dirty="0"/>
          </a:p>
        </p:txBody>
      </p:sp>
      <p:sp>
        <p:nvSpPr>
          <p:cNvPr id="3" name="Text 1"/>
          <p:cNvSpPr/>
          <p:nvPr>
            <p:ph type="title"/>
          </p:nvPr>
        </p:nvSpPr>
        <p:spPr>
          <a:xfrm>
            <a:off x="812800" y="2136973"/>
            <a:ext cx="4656836" cy="1372592"/>
          </a:xfrm>
          <a:prstGeom prst="rect">
            <a:avLst/>
          </a:prstGeom>
          <a:noFill/>
          <a:ln/>
        </p:spPr>
        <p:txBody>
          <a:bodyPr wrap="square" lIns="0" tIns="0" rIns="0" bIns="0" rtlCol="0" anchor="t">
            <a:normAutofit/>
          </a:bodyPr>
          <a:lstStyle/>
          <a:p>
            <a:pPr algn="l" indent="0" marL="0">
              <a:lnSpc>
                <a:spcPts val="5304"/>
              </a:lnSpc>
              <a:buNone/>
            </a:pPr>
            <a:r>
              <a:rPr lang="en-US" sz="5200" b="1" i="0" spc="-150" kern="0" dirty="0">
                <a:solidFill>
                  <a:srgbClr val="1D2430"/>
                </a:solidFill>
                <a:latin typeface="Inter" pitchFamily="34" charset="0"/>
                <a:ea typeface="Inter" pitchFamily="34" charset="-122"/>
                <a:cs typeface="Inter" pitchFamily="34" charset="-120"/>
              </a:rPr>
              <a:t>Rescue Drone Swarm</a:t>
            </a:r>
            <a:endParaRPr lang="en-US" sz="5200" dirty="0"/>
          </a:p>
        </p:txBody>
      </p:sp>
      <p:sp>
        <p:nvSpPr>
          <p:cNvPr id="4" name="Text 2"/>
          <p:cNvSpPr/>
          <p:nvPr/>
        </p:nvSpPr>
        <p:spPr>
          <a:xfrm>
            <a:off x="812800" y="3687366"/>
            <a:ext cx="4656836" cy="93206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4F5A6B"/>
                </a:solidFill>
                <a:latin typeface="Inter" pitchFamily="34" charset="0"/>
                <a:ea typeface="Inter" pitchFamily="34" charset="-122"/>
                <a:cs typeface="Inter" pitchFamily="34" charset="-120"/>
              </a:rPr>
              <a:t>AI-coordinated drone swarms, launched from rescue trucks, that find missing people faster when every second counts.</a:t>
            </a:r>
            <a:endParaRPr lang="en-US" sz="1700" dirty="0"/>
          </a:p>
        </p:txBody>
      </p:sp>
      <p:sp>
        <p:nvSpPr>
          <p:cNvPr id="5" name="Text 3"/>
          <p:cNvSpPr/>
          <p:nvPr/>
        </p:nvSpPr>
        <p:spPr>
          <a:xfrm>
            <a:off x="812800" y="4797227"/>
            <a:ext cx="1381770" cy="340320"/>
          </a:xfrm>
          <a:prstGeom prst="roundRect">
            <a:avLst>
              <a:gd name="adj" fmla="val 50000"/>
            </a:avLst>
          </a:prstGeom>
          <a:solidFill>
            <a:srgbClr val="E8EFFF"/>
          </a:solidFill>
          <a:ln/>
        </p:spPr>
        <p:txBody>
          <a:bodyPr wrap="none" lIns="0" tIns="0" rIns="0" bIns="0" rtlCol="0" anchor="ctr">
            <a:normAutofit/>
          </a:bodyPr>
          <a:lstStyle/>
          <a:p>
            <a:pPr algn="ctr" indent="0" marL="0">
              <a:lnSpc>
                <a:spcPts val="1680"/>
              </a:lnSpc>
              <a:buNone/>
            </a:pPr>
            <a:r>
              <a:rPr lang="en-US" sz="1200" b="1" dirty="0">
                <a:solidFill>
                  <a:srgbClr val="2F6FED"/>
                </a:solidFill>
                <a:latin typeface="Inter" pitchFamily="34" charset="0"/>
                <a:ea typeface="Inter" pitchFamily="34" charset="-122"/>
                <a:cs typeface="Inter" pitchFamily="34" charset="-120"/>
              </a:rPr>
              <a:t>Live simulation</a:t>
            </a:r>
            <a:endParaRPr lang="en-US" sz="1200" dirty="0"/>
          </a:p>
        </p:txBody>
      </p:sp>
      <p:sp>
        <p:nvSpPr>
          <p:cNvPr id="6" name="Text 4"/>
          <p:cNvSpPr/>
          <p:nvPr/>
        </p:nvSpPr>
        <p:spPr>
          <a:xfrm>
            <a:off x="2296170" y="4797227"/>
            <a:ext cx="1979166" cy="340320"/>
          </a:xfrm>
          <a:prstGeom prst="roundRect">
            <a:avLst>
              <a:gd name="adj" fmla="val 50000"/>
            </a:avLst>
          </a:prstGeom>
          <a:solidFill>
            <a:srgbClr val="E3F5EC"/>
          </a:solidFill>
          <a:ln/>
        </p:spPr>
        <p:txBody>
          <a:bodyPr wrap="none" lIns="0" tIns="0" rIns="0" bIns="0" rtlCol="0" anchor="ctr">
            <a:normAutofit/>
          </a:bodyPr>
          <a:lstStyle/>
          <a:p>
            <a:pPr algn="ctr" indent="0" marL="0">
              <a:lnSpc>
                <a:spcPts val="1680"/>
              </a:lnSpc>
              <a:buNone/>
            </a:pPr>
            <a:r>
              <a:rPr lang="en-US" sz="1200" b="1" dirty="0">
                <a:solidFill>
                  <a:srgbClr val="14805A"/>
                </a:solidFill>
                <a:latin typeface="Inter" pitchFamily="34" charset="0"/>
                <a:ea typeface="Inter" pitchFamily="34" charset="-122"/>
                <a:cs typeface="Inter" pitchFamily="34" charset="-120"/>
              </a:rPr>
              <a:t>Real Vancouver streets</a:t>
            </a:r>
            <a:endParaRPr lang="en-US" sz="1200" dirty="0"/>
          </a:p>
        </p:txBody>
      </p:sp>
      <p:sp>
        <p:nvSpPr>
          <p:cNvPr id="7" name="Shape 5"/>
          <p:cNvSpPr/>
          <p:nvPr/>
        </p:nvSpPr>
        <p:spPr>
          <a:xfrm>
            <a:off x="5791200" y="2076450"/>
            <a:ext cx="5588000" cy="2705100"/>
          </a:xfrm>
          <a:prstGeom prst="roundRect">
            <a:avLst>
              <a:gd name="adj" fmla="val 5634"/>
            </a:avLst>
          </a:prstGeom>
          <a:solidFill>
            <a:srgbClr val="FFFFFF"/>
          </a:solidFill>
          <a:ln/>
          <a:effectLst>
            <a:outerShdw sx="100000" sy="100000" kx="0" ky="0" algn="bl" rotWithShape="0" blurRad="25400" dist="12700" dir="5400000">
              <a:srgbClr val="141E32">
                <a:alpha val="6000"/>
              </a:srgbClr>
            </a:outerShdw>
          </a:effectLst>
        </p:spPr>
      </p:sp>
      <p:pic>
        <p:nvPicPr>
          <p:cNvPr id="8" name="Image 0" descr="The Rescue Drone Swarm app: six drones searching North Vancouver, searched blocks shaded green, 11 survivors found after one minute">    </p:cNvPr>
          <p:cNvPicPr>
            <a:picLocks noChangeAspect="1"/>
          </p:cNvPicPr>
          <p:nvPr/>
        </p:nvPicPr>
        <p:blipFill>
          <a:blip r:embed="rId1"/>
          <a:srcRect l="79" r="79" t="0" b="0"/>
          <a:stretch/>
        </p:blipFill>
        <p:spPr>
          <a:xfrm>
            <a:off x="5892800" y="2178050"/>
            <a:ext cx="5384800" cy="2501900"/>
          </a:xfrm>
          <a:prstGeom prst="roundRect">
            <a:avLst>
              <a:gd name="adj" fmla="val 3046"/>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THE PROBLEM</a:t>
            </a:r>
            <a:endParaRPr lang="en-US" sz="1200" dirty="0"/>
          </a:p>
        </p:txBody>
      </p:sp>
      <p:sp>
        <p:nvSpPr>
          <p:cNvPr id="3" name="Text 1"/>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1D2430"/>
                </a:solidFill>
                <a:latin typeface="Inter" pitchFamily="34" charset="0"/>
                <a:ea typeface="Inter" pitchFamily="34" charset="-122"/>
                <a:cs typeface="Inter" pitchFamily="34" charset="-120"/>
              </a:rPr>
              <a:t>Traditional search is slow, costly and risky</a:t>
            </a:r>
            <a:endParaRPr lang="en-US" sz="3200" dirty="0"/>
          </a:p>
        </p:txBody>
      </p:sp>
      <p:sp>
        <p:nvSpPr>
          <p:cNvPr id="4" name="Shape 2"/>
          <p:cNvSpPr/>
          <p:nvPr/>
        </p:nvSpPr>
        <p:spPr>
          <a:xfrm>
            <a:off x="815975" y="2009725"/>
            <a:ext cx="3380284" cy="2359025"/>
          </a:xfrm>
          <a:prstGeom prst="roundRect">
            <a:avLst>
              <a:gd name="adj" fmla="val 5249"/>
            </a:avLst>
          </a:prstGeom>
          <a:solidFill>
            <a:srgbClr val="FFFFFF"/>
          </a:solidFill>
          <a:ln w="6350">
            <a:solidFill>
              <a:srgbClr val="E4E8EE"/>
            </a:solidFill>
            <a:prstDash val="solid"/>
          </a:ln>
          <a:effectLst>
            <a:outerShdw sx="100000" sy="100000" kx="0" ky="0" algn="bl" rotWithShape="0" blurRad="12700" dist="6350" dir="5400000">
              <a:srgbClr val="141E32">
                <a:alpha val="5000"/>
              </a:srgbClr>
            </a:outerShdw>
          </a:effectLst>
        </p:spPr>
      </p:sp>
      <p:pic>
        <p:nvPicPr>
          <p:cNvPr id="5" name="Image 0" descr="Clock">    </p:cNvPr>
          <p:cNvPicPr>
            <a:picLocks noChangeAspect="1"/>
          </p:cNvPicPr>
          <p:nvPr/>
        </p:nvPicPr>
        <p:blipFill>
          <a:blip r:embed="rId1"/>
          <a:srcRect l="0" r="0" t="0" b="0"/>
          <a:stretch/>
        </p:blipFill>
        <p:spPr>
          <a:xfrm>
            <a:off x="1123950" y="2317700"/>
            <a:ext cx="355600" cy="355600"/>
          </a:xfrm>
          <a:prstGeom prst="rect">
            <a:avLst/>
          </a:prstGeom>
        </p:spPr>
      </p:pic>
      <p:sp>
        <p:nvSpPr>
          <p:cNvPr id="6" name="Text 3"/>
          <p:cNvSpPr/>
          <p:nvPr/>
        </p:nvSpPr>
        <p:spPr>
          <a:xfrm>
            <a:off x="1123950" y="2800300"/>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0"/>
                </a:solidFill>
                <a:latin typeface="Inter" pitchFamily="34" charset="0"/>
                <a:ea typeface="Inter" pitchFamily="34" charset="-122"/>
                <a:cs typeface="Inter" pitchFamily="34" charset="-120"/>
              </a:rPr>
              <a:t>Slow to start</a:t>
            </a:r>
            <a:endParaRPr lang="en-US" sz="2000" dirty="0"/>
          </a:p>
        </p:txBody>
      </p:sp>
      <p:sp>
        <p:nvSpPr>
          <p:cNvPr id="7" name="Text 4"/>
          <p:cNvSpPr/>
          <p:nvPr/>
        </p:nvSpPr>
        <p:spPr>
          <a:xfrm>
            <a:off x="1123950" y="3232100"/>
            <a:ext cx="2847264"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Helicopters and ground teams take hours to reach and cover a disaster zone.</a:t>
            </a:r>
            <a:endParaRPr lang="en-US" sz="1500" dirty="0"/>
          </a:p>
        </p:txBody>
      </p:sp>
      <p:sp>
        <p:nvSpPr>
          <p:cNvPr id="8" name="Shape 5"/>
          <p:cNvSpPr/>
          <p:nvPr/>
        </p:nvSpPr>
        <p:spPr>
          <a:xfrm>
            <a:off x="4405809" y="2009725"/>
            <a:ext cx="3380333" cy="2359025"/>
          </a:xfrm>
          <a:prstGeom prst="roundRect">
            <a:avLst>
              <a:gd name="adj" fmla="val 5249"/>
            </a:avLst>
          </a:prstGeom>
          <a:solidFill>
            <a:srgbClr val="FFFFFF"/>
          </a:solidFill>
          <a:ln w="6350">
            <a:solidFill>
              <a:srgbClr val="E4E8EE"/>
            </a:solidFill>
            <a:prstDash val="solid"/>
          </a:ln>
          <a:effectLst>
            <a:outerShdw sx="100000" sy="100000" kx="0" ky="0" algn="bl" rotWithShape="0" blurRad="12700" dist="6350" dir="5400000">
              <a:srgbClr val="141E32">
                <a:alpha val="5000"/>
              </a:srgbClr>
            </a:outerShdw>
          </a:effectLst>
        </p:spPr>
      </p:sp>
      <p:pic>
        <p:nvPicPr>
          <p:cNvPr id="9" name="Image 1" descr="Chart">    </p:cNvPr>
          <p:cNvPicPr>
            <a:picLocks noChangeAspect="1"/>
          </p:cNvPicPr>
          <p:nvPr/>
        </p:nvPicPr>
        <p:blipFill>
          <a:blip r:embed="rId2"/>
          <a:srcRect l="0" r="0" t="0" b="0"/>
          <a:stretch/>
        </p:blipFill>
        <p:spPr>
          <a:xfrm>
            <a:off x="4713784" y="2317700"/>
            <a:ext cx="355600" cy="355600"/>
          </a:xfrm>
          <a:prstGeom prst="rect">
            <a:avLst/>
          </a:prstGeom>
        </p:spPr>
      </p:pic>
      <p:sp>
        <p:nvSpPr>
          <p:cNvPr id="10" name="Text 6"/>
          <p:cNvSpPr/>
          <p:nvPr/>
        </p:nvSpPr>
        <p:spPr>
          <a:xfrm>
            <a:off x="4713784" y="2800300"/>
            <a:ext cx="2847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0"/>
                </a:solidFill>
                <a:latin typeface="Inter" pitchFamily="34" charset="0"/>
                <a:ea typeface="Inter" pitchFamily="34" charset="-122"/>
                <a:cs typeface="Inter" pitchFamily="34" charset="-120"/>
              </a:rPr>
              <a:t>Expensive</a:t>
            </a:r>
            <a:endParaRPr lang="en-US" sz="2000" dirty="0"/>
          </a:p>
        </p:txBody>
      </p:sp>
      <p:sp>
        <p:nvSpPr>
          <p:cNvPr id="11" name="Text 7"/>
          <p:cNvSpPr/>
          <p:nvPr/>
        </p:nvSpPr>
        <p:spPr>
          <a:xfrm>
            <a:off x="4713784" y="3232100"/>
            <a:ext cx="284731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Manned aircraft missions carry a huge cost for every hour in the air.</a:t>
            </a:r>
            <a:endParaRPr lang="en-US" sz="1500" dirty="0"/>
          </a:p>
        </p:txBody>
      </p:sp>
      <p:sp>
        <p:nvSpPr>
          <p:cNvPr id="12" name="Shape 8"/>
          <p:cNvSpPr/>
          <p:nvPr/>
        </p:nvSpPr>
        <p:spPr>
          <a:xfrm>
            <a:off x="7995692" y="2009725"/>
            <a:ext cx="3380333" cy="2359025"/>
          </a:xfrm>
          <a:prstGeom prst="roundRect">
            <a:avLst>
              <a:gd name="adj" fmla="val 5249"/>
            </a:avLst>
          </a:prstGeom>
          <a:solidFill>
            <a:srgbClr val="FFFFFF"/>
          </a:solidFill>
          <a:ln w="6350">
            <a:solidFill>
              <a:srgbClr val="E4E8EE"/>
            </a:solidFill>
            <a:prstDash val="solid"/>
          </a:ln>
          <a:effectLst>
            <a:outerShdw sx="100000" sy="100000" kx="0" ky="0" algn="bl" rotWithShape="0" blurRad="12700" dist="6350" dir="5400000">
              <a:srgbClr val="141E32">
                <a:alpha val="5000"/>
              </a:srgbClr>
            </a:outerShdw>
          </a:effectLst>
        </p:spPr>
      </p:sp>
      <p:pic>
        <p:nvPicPr>
          <p:cNvPr id="13" name="Image 2" descr="Warning">    </p:cNvPr>
          <p:cNvPicPr>
            <a:picLocks noChangeAspect="1"/>
          </p:cNvPicPr>
          <p:nvPr/>
        </p:nvPicPr>
        <p:blipFill>
          <a:blip r:embed="rId3"/>
          <a:srcRect l="0" r="0" t="0" b="0"/>
          <a:stretch/>
        </p:blipFill>
        <p:spPr>
          <a:xfrm>
            <a:off x="8303667" y="2317700"/>
            <a:ext cx="355600" cy="355600"/>
          </a:xfrm>
          <a:prstGeom prst="rect">
            <a:avLst/>
          </a:prstGeom>
        </p:spPr>
      </p:pic>
      <p:sp>
        <p:nvSpPr>
          <p:cNvPr id="14" name="Text 9"/>
          <p:cNvSpPr/>
          <p:nvPr/>
        </p:nvSpPr>
        <p:spPr>
          <a:xfrm>
            <a:off x="8303667" y="2800300"/>
            <a:ext cx="2847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0"/>
                </a:solidFill>
                <a:latin typeface="Inter" pitchFamily="34" charset="0"/>
                <a:ea typeface="Inter" pitchFamily="34" charset="-122"/>
                <a:cs typeface="Inter" pitchFamily="34" charset="-120"/>
              </a:rPr>
              <a:t>Dangerous</a:t>
            </a:r>
            <a:endParaRPr lang="en-US" sz="2000" dirty="0"/>
          </a:p>
        </p:txBody>
      </p:sp>
      <p:sp>
        <p:nvSpPr>
          <p:cNvPr id="15" name="Text 10"/>
          <p:cNvSpPr/>
          <p:nvPr/>
        </p:nvSpPr>
        <p:spPr>
          <a:xfrm>
            <a:off x="8303667" y="3232100"/>
            <a:ext cx="284731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Rescuers are sent into unstable buildings, floods and smoke.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1508770"/>
            <a:ext cx="504926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MOBILE GROUND COMMAND</a:t>
            </a:r>
            <a:endParaRPr lang="en-US" sz="1200" dirty="0"/>
          </a:p>
        </p:txBody>
      </p:sp>
      <p:sp>
        <p:nvSpPr>
          <p:cNvPr id="3" name="Text 1"/>
          <p:cNvSpPr/>
          <p:nvPr>
            <p:ph type="title"/>
          </p:nvPr>
        </p:nvSpPr>
        <p:spPr>
          <a:xfrm>
            <a:off x="812800" y="1925290"/>
            <a:ext cx="5049266" cy="136649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1D2430"/>
                </a:solidFill>
                <a:latin typeface="Inter" pitchFamily="34" charset="0"/>
                <a:ea typeface="Inter" pitchFamily="34" charset="-122"/>
                <a:cs typeface="Inter" pitchFamily="34" charset="-120"/>
              </a:rPr>
              <a:t>Launched from trucks, right at the edge of the disaster</a:t>
            </a:r>
            <a:endParaRPr lang="en-US" sz="3200" dirty="0"/>
          </a:p>
        </p:txBody>
      </p:sp>
      <p:pic>
        <p:nvPicPr>
          <p:cNvPr id="4" name="Image 0" descr="CheckCircle">    </p:cNvPr>
          <p:cNvPicPr>
            <a:picLocks noChangeAspect="1"/>
          </p:cNvPicPr>
          <p:nvPr/>
        </p:nvPicPr>
        <p:blipFill>
          <a:blip r:embed="rId1"/>
          <a:srcRect l="0" r="0" t="0" b="0"/>
          <a:stretch/>
        </p:blipFill>
        <p:spPr>
          <a:xfrm>
            <a:off x="812800" y="3469580"/>
            <a:ext cx="254000" cy="254000"/>
          </a:xfrm>
          <a:prstGeom prst="rect">
            <a:avLst/>
          </a:prstGeom>
        </p:spPr>
      </p:pic>
      <p:sp>
        <p:nvSpPr>
          <p:cNvPr id="5" name="Text 2"/>
          <p:cNvSpPr/>
          <p:nvPr/>
        </p:nvSpPr>
        <p:spPr>
          <a:xfrm>
            <a:off x="1181100" y="3469580"/>
            <a:ext cx="466991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430"/>
                </a:solidFill>
                <a:latin typeface="Inter" pitchFamily="34" charset="0"/>
                <a:ea typeface="Inter" pitchFamily="34" charset="-122"/>
                <a:cs typeface="Inter" pitchFamily="34" charset="-120"/>
              </a:rPr>
              <a:t>Trucks carry, charge and launch</a:t>
            </a:r>
            <a:r>
              <a:rPr lang="en-US" sz="1500" dirty="0">
                <a:solidFill>
                  <a:srgbClr val="4F5A6B"/>
                </a:solidFill>
                <a:latin typeface="Inter" pitchFamily="34" charset="0"/>
                <a:ea typeface="Inter" pitchFamily="34" charset="-122"/>
                <a:cs typeface="Inter" pitchFamily="34" charset="-120"/>
              </a:rPr>
              <a:t> the drones, then drive to wherever the work is.</a:t>
            </a:r>
            <a:endParaRPr lang="en-US" sz="1500" dirty="0"/>
          </a:p>
        </p:txBody>
      </p:sp>
      <p:pic>
        <p:nvPicPr>
          <p:cNvPr id="6" name="Image 1" descr="CheckCircle">    </p:cNvPr>
          <p:cNvPicPr>
            <a:picLocks noChangeAspect="1"/>
          </p:cNvPicPr>
          <p:nvPr/>
        </p:nvPicPr>
        <p:blipFill>
          <a:blip r:embed="rId2"/>
          <a:srcRect l="0" r="0" t="0" b="0"/>
          <a:stretch/>
        </p:blipFill>
        <p:spPr>
          <a:xfrm>
            <a:off x="812800" y="4142680"/>
            <a:ext cx="254000" cy="254000"/>
          </a:xfrm>
          <a:prstGeom prst="rect">
            <a:avLst/>
          </a:prstGeom>
        </p:spPr>
      </p:pic>
      <p:sp>
        <p:nvSpPr>
          <p:cNvPr id="7" name="Text 3"/>
          <p:cNvSpPr/>
          <p:nvPr/>
        </p:nvSpPr>
        <p:spPr>
          <a:xfrm>
            <a:off x="1181100" y="4142680"/>
            <a:ext cx="466991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430"/>
                </a:solidFill>
                <a:latin typeface="Inter" pitchFamily="34" charset="0"/>
                <a:ea typeface="Inter" pitchFamily="34" charset="-122"/>
                <a:cs typeface="Inter" pitchFamily="34" charset="-120"/>
              </a:rPr>
              <a:t>Draw a circle</a:t>
            </a:r>
            <a:r>
              <a:rPr lang="en-US" sz="1500" dirty="0">
                <a:solidFill>
                  <a:srgbClr val="4F5A6B"/>
                </a:solidFill>
                <a:latin typeface="Inter" pitchFamily="34" charset="0"/>
                <a:ea typeface="Inter" pitchFamily="34" charset="-122"/>
                <a:cs typeface="Inter" pitchFamily="34" charset="-120"/>
              </a:rPr>
              <a:t> on the map and the swarm searches only inside it.</a:t>
            </a:r>
            <a:endParaRPr lang="en-US" sz="1500" dirty="0"/>
          </a:p>
        </p:txBody>
      </p:sp>
      <p:pic>
        <p:nvPicPr>
          <p:cNvPr id="8" name="Image 2" descr="CheckCircle">    </p:cNvPr>
          <p:cNvPicPr>
            <a:picLocks noChangeAspect="1"/>
          </p:cNvPicPr>
          <p:nvPr/>
        </p:nvPicPr>
        <p:blipFill>
          <a:blip r:embed="rId3"/>
          <a:srcRect l="0" r="0" t="0" b="0"/>
          <a:stretch/>
        </p:blipFill>
        <p:spPr>
          <a:xfrm>
            <a:off x="812800" y="4815780"/>
            <a:ext cx="254000" cy="254000"/>
          </a:xfrm>
          <a:prstGeom prst="rect">
            <a:avLst/>
          </a:prstGeom>
        </p:spPr>
      </p:pic>
      <p:sp>
        <p:nvSpPr>
          <p:cNvPr id="9" name="Text 4"/>
          <p:cNvSpPr/>
          <p:nvPr/>
        </p:nvSpPr>
        <p:spPr>
          <a:xfrm>
            <a:off x="1181100" y="4815780"/>
            <a:ext cx="466991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430"/>
                </a:solidFill>
                <a:latin typeface="Inter" pitchFamily="34" charset="0"/>
                <a:ea typeface="Inter" pitchFamily="34" charset="-122"/>
                <a:cs typeface="Inter" pitchFamily="34" charset="-120"/>
              </a:rPr>
              <a:t>Below 20% battery</a:t>
            </a:r>
            <a:r>
              <a:rPr lang="en-US" sz="1500" dirty="0">
                <a:solidFill>
                  <a:srgbClr val="4F5A6B"/>
                </a:solidFill>
                <a:latin typeface="Inter" pitchFamily="34" charset="0"/>
                <a:ea typeface="Inter" pitchFamily="34" charset="-122"/>
                <a:cs typeface="Inter" pitchFamily="34" charset="-120"/>
              </a:rPr>
              <a:t> a drone flies back to a truck, recharges and rejoins.</a:t>
            </a:r>
            <a:endParaRPr lang="en-US" sz="1500" dirty="0"/>
          </a:p>
        </p:txBody>
      </p:sp>
      <p:sp>
        <p:nvSpPr>
          <p:cNvPr id="10" name="Shape 5"/>
          <p:cNvSpPr/>
          <p:nvPr/>
        </p:nvSpPr>
        <p:spPr>
          <a:xfrm>
            <a:off x="6172200" y="2165350"/>
            <a:ext cx="5207000" cy="2527300"/>
          </a:xfrm>
          <a:prstGeom prst="roundRect">
            <a:avLst>
              <a:gd name="adj" fmla="val 6030"/>
            </a:avLst>
          </a:prstGeom>
          <a:solidFill>
            <a:srgbClr val="FFFFFF"/>
          </a:solidFill>
          <a:ln/>
          <a:effectLst>
            <a:outerShdw sx="100000" sy="100000" kx="0" ky="0" algn="bl" rotWithShape="0" blurRad="25400" dist="12700" dir="5400000">
              <a:srgbClr val="141E32">
                <a:alpha val="6000"/>
              </a:srgbClr>
            </a:outerShdw>
          </a:effectLst>
        </p:spPr>
      </p:sp>
      <p:pic>
        <p:nvPicPr>
          <p:cNvPr id="11" name="Image 3" descr="Third-person drone view: an orange drone flying low over green, already-searched buildings in North Vancouver, red survivor markers and the harbour behind">    </p:cNvPr>
          <p:cNvPicPr>
            <a:picLocks noChangeAspect="1"/>
          </p:cNvPicPr>
          <p:nvPr/>
        </p:nvPicPr>
        <p:blipFill>
          <a:blip r:embed="rId4"/>
          <a:srcRect l="62" r="62" t="0" b="0"/>
          <a:stretch/>
        </p:blipFill>
        <p:spPr>
          <a:xfrm>
            <a:off x="6273800" y="2266950"/>
            <a:ext cx="5003800" cy="2324100"/>
          </a:xfrm>
          <a:prstGeom prst="roundRect">
            <a:avLst>
              <a:gd name="adj" fmla="val 3279"/>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SWARM ARCHITECTURE</a:t>
            </a:r>
            <a:endParaRPr lang="en-US" sz="1200" dirty="0"/>
          </a:p>
        </p:txBody>
      </p:sp>
      <p:sp>
        <p:nvSpPr>
          <p:cNvPr id="3" name="Text 1"/>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1D2430"/>
                </a:solidFill>
                <a:latin typeface="Inter" pitchFamily="34" charset="0"/>
                <a:ea typeface="Inter" pitchFamily="34" charset="-122"/>
                <a:cs typeface="Inter" pitchFamily="34" charset="-120"/>
              </a:rPr>
              <a:t>One planner, one shared map, many drones</a:t>
            </a:r>
            <a:endParaRPr lang="en-US" sz="3200" dirty="0"/>
          </a:p>
        </p:txBody>
      </p:sp>
      <p:sp>
        <p:nvSpPr>
          <p:cNvPr id="4" name="Shape 2"/>
          <p:cNvSpPr/>
          <p:nvPr/>
        </p:nvSpPr>
        <p:spPr>
          <a:xfrm>
            <a:off x="815975" y="2060525"/>
            <a:ext cx="2273300" cy="2493466"/>
          </a:xfrm>
          <a:prstGeom prst="roundRect">
            <a:avLst>
              <a:gd name="adj" fmla="val 5447"/>
            </a:avLst>
          </a:prstGeom>
          <a:solidFill>
            <a:srgbClr val="FFFFFF"/>
          </a:solidFill>
          <a:ln w="6350">
            <a:solidFill>
              <a:srgbClr val="E4E8EE"/>
            </a:solidFill>
            <a:prstDash val="solid"/>
          </a:ln>
        </p:spPr>
      </p:sp>
      <p:pic>
        <p:nvPicPr>
          <p:cNvPr id="5" name="Image 0" descr="Search">    </p:cNvPr>
          <p:cNvPicPr>
            <a:picLocks noChangeAspect="1"/>
          </p:cNvPicPr>
          <p:nvPr/>
        </p:nvPicPr>
        <p:blipFill>
          <a:blip r:embed="rId1"/>
          <a:srcRect l="0" r="0" t="0" b="0"/>
          <a:stretch/>
        </p:blipFill>
        <p:spPr>
          <a:xfrm>
            <a:off x="1073150" y="2317700"/>
            <a:ext cx="304800" cy="304800"/>
          </a:xfrm>
          <a:prstGeom prst="rect">
            <a:avLst/>
          </a:prstGeom>
        </p:spPr>
      </p:pic>
      <p:sp>
        <p:nvSpPr>
          <p:cNvPr id="6" name="Text 3"/>
          <p:cNvSpPr/>
          <p:nvPr/>
        </p:nvSpPr>
        <p:spPr>
          <a:xfrm>
            <a:off x="1073150" y="2724100"/>
            <a:ext cx="181171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0"/>
                </a:solidFill>
                <a:latin typeface="Inter" pitchFamily="34" charset="0"/>
                <a:ea typeface="Inter" pitchFamily="34" charset="-122"/>
                <a:cs typeface="Inter" pitchFamily="34" charset="-120"/>
              </a:rPr>
              <a:t>Observe</a:t>
            </a:r>
            <a:endParaRPr lang="en-US" sz="1800" dirty="0"/>
          </a:p>
        </p:txBody>
      </p:sp>
      <p:sp>
        <p:nvSpPr>
          <p:cNvPr id="7" name="Text 4"/>
          <p:cNvSpPr/>
          <p:nvPr/>
        </p:nvSpPr>
        <p:spPr>
          <a:xfrm>
            <a:off x="1073150" y="3099991"/>
            <a:ext cx="1811719"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F5A6B"/>
                </a:solidFill>
                <a:latin typeface="Inter" pitchFamily="34" charset="0"/>
                <a:ea typeface="Inter" pitchFamily="34" charset="-122"/>
                <a:cs typeface="Inter" pitchFamily="34" charset="-120"/>
              </a:rPr>
              <a:t>Each drone's camera marks what it has seen, and finds buildings itself if there is no map.</a:t>
            </a:r>
            <a:endParaRPr lang="en-US" sz="1300" dirty="0"/>
          </a:p>
        </p:txBody>
      </p:sp>
      <p:pic>
        <p:nvPicPr>
          <p:cNvPr id="8" name="Image 1" descr="PaperPlane">    </p:cNvPr>
          <p:cNvPicPr>
            <a:picLocks noChangeAspect="1"/>
          </p:cNvPicPr>
          <p:nvPr/>
        </p:nvPicPr>
        <p:blipFill>
          <a:blip r:embed="rId2"/>
          <a:srcRect l="0" r="0" t="0" b="0"/>
          <a:stretch/>
        </p:blipFill>
        <p:spPr>
          <a:xfrm>
            <a:off x="3219450" y="3192959"/>
            <a:ext cx="228600" cy="228600"/>
          </a:xfrm>
          <a:prstGeom prst="rect">
            <a:avLst/>
          </a:prstGeom>
        </p:spPr>
      </p:pic>
      <p:sp>
        <p:nvSpPr>
          <p:cNvPr id="9" name="Shape 5"/>
          <p:cNvSpPr/>
          <p:nvPr/>
        </p:nvSpPr>
        <p:spPr>
          <a:xfrm>
            <a:off x="3578225" y="2180183"/>
            <a:ext cx="2273300" cy="2254101"/>
          </a:xfrm>
          <a:prstGeom prst="roundRect">
            <a:avLst>
              <a:gd name="adj" fmla="val 5493"/>
            </a:avLst>
          </a:prstGeom>
          <a:solidFill>
            <a:srgbClr val="FFFFFF"/>
          </a:solidFill>
          <a:ln w="6350">
            <a:solidFill>
              <a:srgbClr val="E4E8EE"/>
            </a:solidFill>
            <a:prstDash val="solid"/>
          </a:ln>
        </p:spPr>
      </p:sp>
      <p:pic>
        <p:nvPicPr>
          <p:cNvPr id="10" name="Image 2" descr="Database">    </p:cNvPr>
          <p:cNvPicPr>
            <a:picLocks noChangeAspect="1"/>
          </p:cNvPicPr>
          <p:nvPr/>
        </p:nvPicPr>
        <p:blipFill>
          <a:blip r:embed="rId3"/>
          <a:srcRect l="0" r="0" t="0" b="0"/>
          <a:stretch/>
        </p:blipFill>
        <p:spPr>
          <a:xfrm>
            <a:off x="3835400" y="2437358"/>
            <a:ext cx="304800" cy="304800"/>
          </a:xfrm>
          <a:prstGeom prst="rect">
            <a:avLst/>
          </a:prstGeom>
        </p:spPr>
      </p:pic>
      <p:sp>
        <p:nvSpPr>
          <p:cNvPr id="11" name="Text 6"/>
          <p:cNvSpPr/>
          <p:nvPr/>
        </p:nvSpPr>
        <p:spPr>
          <a:xfrm>
            <a:off x="3835400" y="2843758"/>
            <a:ext cx="181171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0"/>
                </a:solidFill>
                <a:latin typeface="Inter" pitchFamily="34" charset="0"/>
                <a:ea typeface="Inter" pitchFamily="34" charset="-122"/>
                <a:cs typeface="Inter" pitchFamily="34" charset="-120"/>
              </a:rPr>
              <a:t>Share</a:t>
            </a:r>
            <a:endParaRPr lang="en-US" sz="1800" dirty="0"/>
          </a:p>
        </p:txBody>
      </p:sp>
      <p:sp>
        <p:nvSpPr>
          <p:cNvPr id="12" name="Text 7"/>
          <p:cNvSpPr/>
          <p:nvPr/>
        </p:nvSpPr>
        <p:spPr>
          <a:xfrm>
            <a:off x="3835400" y="3219648"/>
            <a:ext cx="1811719"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F5A6B"/>
                </a:solidFill>
                <a:latin typeface="Inter" pitchFamily="34" charset="0"/>
                <a:ea typeface="Inter" pitchFamily="34" charset="-122"/>
                <a:cs typeface="Inter" pitchFamily="34" charset="-120"/>
              </a:rPr>
              <a:t>Everything goes into one live map of searched and unsearched ground.</a:t>
            </a:r>
            <a:endParaRPr lang="en-US" sz="1300" dirty="0"/>
          </a:p>
        </p:txBody>
      </p:sp>
      <p:pic>
        <p:nvPicPr>
          <p:cNvPr id="13" name="Image 3" descr="PaperPlane">    </p:cNvPr>
          <p:cNvPicPr>
            <a:picLocks noChangeAspect="1"/>
          </p:cNvPicPr>
          <p:nvPr/>
        </p:nvPicPr>
        <p:blipFill>
          <a:blip r:embed="rId4"/>
          <a:srcRect l="0" r="0" t="0" b="0"/>
          <a:stretch/>
        </p:blipFill>
        <p:spPr>
          <a:xfrm>
            <a:off x="5981700" y="3192959"/>
            <a:ext cx="228600" cy="228600"/>
          </a:xfrm>
          <a:prstGeom prst="rect">
            <a:avLst/>
          </a:prstGeom>
        </p:spPr>
      </p:pic>
      <p:sp>
        <p:nvSpPr>
          <p:cNvPr id="14" name="Shape 8"/>
          <p:cNvSpPr/>
          <p:nvPr/>
        </p:nvSpPr>
        <p:spPr>
          <a:xfrm>
            <a:off x="6340475" y="2180183"/>
            <a:ext cx="2273300" cy="2254101"/>
          </a:xfrm>
          <a:prstGeom prst="roundRect">
            <a:avLst>
              <a:gd name="adj" fmla="val 5493"/>
            </a:avLst>
          </a:prstGeom>
          <a:solidFill>
            <a:srgbClr val="FFFFFF"/>
          </a:solidFill>
          <a:ln w="6350">
            <a:solidFill>
              <a:srgbClr val="E4E8EE"/>
            </a:solidFill>
            <a:prstDash val="solid"/>
          </a:ln>
        </p:spPr>
      </p:sp>
      <p:pic>
        <p:nvPicPr>
          <p:cNvPr id="15" name="Image 4" descr="Settings">    </p:cNvPr>
          <p:cNvPicPr>
            <a:picLocks noChangeAspect="1"/>
          </p:cNvPicPr>
          <p:nvPr/>
        </p:nvPicPr>
        <p:blipFill>
          <a:blip r:embed="rId5"/>
          <a:srcRect l="0" r="0" t="0" b="0"/>
          <a:stretch/>
        </p:blipFill>
        <p:spPr>
          <a:xfrm>
            <a:off x="6597650" y="2437358"/>
            <a:ext cx="304800" cy="304800"/>
          </a:xfrm>
          <a:prstGeom prst="rect">
            <a:avLst/>
          </a:prstGeom>
        </p:spPr>
      </p:pic>
      <p:sp>
        <p:nvSpPr>
          <p:cNvPr id="16" name="Text 9"/>
          <p:cNvSpPr/>
          <p:nvPr/>
        </p:nvSpPr>
        <p:spPr>
          <a:xfrm>
            <a:off x="6597650" y="2843758"/>
            <a:ext cx="181171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0"/>
                </a:solidFill>
                <a:latin typeface="Inter" pitchFamily="34" charset="0"/>
                <a:ea typeface="Inter" pitchFamily="34" charset="-122"/>
                <a:cs typeface="Inter" pitchFamily="34" charset="-120"/>
              </a:rPr>
              <a:t>Plan</a:t>
            </a:r>
            <a:endParaRPr lang="en-US" sz="1800" dirty="0"/>
          </a:p>
        </p:txBody>
      </p:sp>
      <p:sp>
        <p:nvSpPr>
          <p:cNvPr id="17" name="Text 10"/>
          <p:cNvSpPr/>
          <p:nvPr/>
        </p:nvSpPr>
        <p:spPr>
          <a:xfrm>
            <a:off x="6597650" y="3219648"/>
            <a:ext cx="1811719"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F5A6B"/>
                </a:solidFill>
                <a:latin typeface="Inter" pitchFamily="34" charset="0"/>
                <a:ea typeface="Inter" pitchFamily="34" charset="-122"/>
                <a:cs typeface="Inter" pitchFamily="34" charset="-120"/>
              </a:rPr>
              <a:t>The central planner scores every block and auctions them to drones.</a:t>
            </a:r>
            <a:endParaRPr lang="en-US" sz="1300" dirty="0"/>
          </a:p>
        </p:txBody>
      </p:sp>
      <p:pic>
        <p:nvPicPr>
          <p:cNvPr id="18" name="Image 5" descr="PaperPlane">    </p:cNvPr>
          <p:cNvPicPr>
            <a:picLocks noChangeAspect="1"/>
          </p:cNvPicPr>
          <p:nvPr/>
        </p:nvPicPr>
        <p:blipFill>
          <a:blip r:embed="rId6"/>
          <a:srcRect l="0" r="0" t="0" b="0"/>
          <a:stretch/>
        </p:blipFill>
        <p:spPr>
          <a:xfrm>
            <a:off x="8743950" y="3192959"/>
            <a:ext cx="228600" cy="228600"/>
          </a:xfrm>
          <a:prstGeom prst="rect">
            <a:avLst/>
          </a:prstGeom>
        </p:spPr>
      </p:pic>
      <p:sp>
        <p:nvSpPr>
          <p:cNvPr id="19" name="Shape 11"/>
          <p:cNvSpPr/>
          <p:nvPr/>
        </p:nvSpPr>
        <p:spPr>
          <a:xfrm>
            <a:off x="9102725" y="2180183"/>
            <a:ext cx="2273300" cy="2254101"/>
          </a:xfrm>
          <a:prstGeom prst="roundRect">
            <a:avLst>
              <a:gd name="adj" fmla="val 5493"/>
            </a:avLst>
          </a:prstGeom>
          <a:solidFill>
            <a:srgbClr val="FFFFFF"/>
          </a:solidFill>
          <a:ln w="6350">
            <a:solidFill>
              <a:srgbClr val="E4E8EE"/>
            </a:solidFill>
            <a:prstDash val="solid"/>
          </a:ln>
        </p:spPr>
      </p:sp>
      <p:pic>
        <p:nvPicPr>
          <p:cNvPr id="20" name="Image 6" descr="Activity">    </p:cNvPr>
          <p:cNvPicPr>
            <a:picLocks noChangeAspect="1"/>
          </p:cNvPicPr>
          <p:nvPr/>
        </p:nvPicPr>
        <p:blipFill>
          <a:blip r:embed="rId7"/>
          <a:srcRect l="0" r="0" t="0" b="0"/>
          <a:stretch/>
        </p:blipFill>
        <p:spPr>
          <a:xfrm>
            <a:off x="9359900" y="2437358"/>
            <a:ext cx="304800" cy="304800"/>
          </a:xfrm>
          <a:prstGeom prst="rect">
            <a:avLst/>
          </a:prstGeom>
        </p:spPr>
      </p:pic>
      <p:sp>
        <p:nvSpPr>
          <p:cNvPr id="21" name="Text 12"/>
          <p:cNvSpPr/>
          <p:nvPr/>
        </p:nvSpPr>
        <p:spPr>
          <a:xfrm>
            <a:off x="9359900" y="2843758"/>
            <a:ext cx="181171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0"/>
                </a:solidFill>
                <a:latin typeface="Inter" pitchFamily="34" charset="0"/>
                <a:ea typeface="Inter" pitchFamily="34" charset="-122"/>
                <a:cs typeface="Inter" pitchFamily="34" charset="-120"/>
              </a:rPr>
              <a:t>Re-plan</a:t>
            </a:r>
            <a:endParaRPr lang="en-US" sz="1800" dirty="0"/>
          </a:p>
        </p:txBody>
      </p:sp>
      <p:sp>
        <p:nvSpPr>
          <p:cNvPr id="22" name="Text 13"/>
          <p:cNvSpPr/>
          <p:nvPr/>
        </p:nvSpPr>
        <p:spPr>
          <a:xfrm>
            <a:off x="9359900" y="3219648"/>
            <a:ext cx="1811719"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F5A6B"/>
                </a:solidFill>
                <a:latin typeface="Inter" pitchFamily="34" charset="0"/>
                <a:ea typeface="Inter" pitchFamily="34" charset="-122"/>
                <a:cs typeface="Inter" pitchFamily="34" charset="-120"/>
              </a:rPr>
              <a:t>A find, a failed drone or a flood re-plans the whole fleet in seconds.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INFORMED STARTS</a:t>
            </a:r>
            <a:endParaRPr lang="en-US" sz="1200" dirty="0"/>
          </a:p>
        </p:txBody>
      </p:sp>
      <p:sp>
        <p:nvSpPr>
          <p:cNvPr id="3" name="Text 1"/>
          <p:cNvSpPr/>
          <p:nvPr>
            <p:ph type="title"/>
          </p:nvPr>
        </p:nvSpPr>
        <p:spPr>
          <a:xfrm>
            <a:off x="812800" y="11531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1D2430"/>
                </a:solidFill>
                <a:latin typeface="Inter" pitchFamily="34" charset="0"/>
                <a:ea typeface="Inter" pitchFamily="34" charset="-122"/>
                <a:cs typeface="Inter" pitchFamily="34" charset="-120"/>
              </a:rPr>
              <a:t>Satellite and census data tell the swarm where to look first</a:t>
            </a:r>
            <a:endParaRPr lang="en-US" sz="3200" dirty="0"/>
          </a:p>
        </p:txBody>
      </p:sp>
      <p:sp>
        <p:nvSpPr>
          <p:cNvPr id="4" name="Shape 2"/>
          <p:cNvSpPr/>
          <p:nvPr/>
        </p:nvSpPr>
        <p:spPr>
          <a:xfrm>
            <a:off x="815975" y="2405955"/>
            <a:ext cx="10560050" cy="2639913"/>
          </a:xfrm>
          <a:prstGeom prst="roundRect">
            <a:avLst>
              <a:gd name="adj" fmla="val 4690"/>
            </a:avLst>
          </a:prstGeom>
          <a:solidFill>
            <a:srgbClr val="FFFFFF"/>
          </a:solidFill>
          <a:ln w="6350">
            <a:solidFill>
              <a:srgbClr val="E4E8EE"/>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085850" y="2574230"/>
          <a:ext cx="10033000" cy="2316063"/>
        </p:xfrm>
        <a:graphic>
          <a:graphicData uri="http://schemas.openxmlformats.org/drawingml/2006/table">
            <a:tbl>
              <a:tblPr/>
              <a:tblGrid>
                <a:gridCol w="3812540"/>
                <a:gridCol w="6220460"/>
              </a:tblGrid>
              <a:tr h="386011">
                <a:tc>
                  <a:txBody>
                    <a:bodyPr/>
                    <a:lstStyle/>
                    <a:p>
                      <a:pPr indent="0" marL="0">
                        <a:lnSpc>
                          <a:spcPts val="1960"/>
                        </a:lnSpc>
                        <a:buNone/>
                      </a:pPr>
                      <a:r>
                        <a:rPr lang="en-US" sz="1400" b="1" dirty="0">
                          <a:solidFill>
                            <a:srgbClr val="6B7486"/>
                          </a:solidFill>
                          <a:latin typeface="Inter" pitchFamily="34" charset="0"/>
                          <a:ea typeface="Inter" pitchFamily="34" charset="-122"/>
                          <a:cs typeface="Inter" pitchFamily="34" charset="-120"/>
                        </a:rPr>
                        <a:t>Open dataset</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6B7486"/>
                          </a:solidFill>
                          <a:latin typeface="Inter" pitchFamily="34" charset="0"/>
                          <a:ea typeface="Inter" pitchFamily="34" charset="-122"/>
                          <a:cs typeface="Inter" pitchFamily="34" charset="-120"/>
                        </a:rPr>
                        <a:t>What it gives the drones</a:t>
                      </a:r>
                      <a:endParaRPr lang="en-US" sz="1400" dirty="0">
                        <a:latin typeface="Inter" charset="0"/>
                        <a:ea typeface="Inter" charset="0"/>
                        <a:cs typeface="Inter"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6011">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GHSL population (census-based)</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Where people live, so dense blocks are searched first</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Copernicus elevation</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Which streets a tsunami or flood will reach</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ESA WorldCover</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Tree canopy, where thermal cameras see less</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Sentinel-2 imagery</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Open water and a real satellite view</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OpenStreetMap</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Inter" pitchFamily="34" charset="0"/>
                          <a:ea typeface="Inter" pitchFamily="34" charset="-122"/>
                          <a:cs typeface="Inter" pitchFamily="34" charset="-120"/>
                        </a:rPr>
                        <a:t>Real buildings, heights and streets for each area</a:t>
                      </a:r>
                      <a:endParaRPr lang="en-US" sz="1400" dirty="0">
                        <a:latin typeface="Inter" charset="0"/>
                        <a:ea typeface="Inter" charset="0"/>
                        <a:cs typeface="Inter"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THE SEARCH ALGORITHM</a:t>
            </a:r>
            <a:endParaRPr lang="en-US" sz="1200" dirty="0"/>
          </a:p>
        </p:txBody>
      </p:sp>
      <p:sp>
        <p:nvSpPr>
          <p:cNvPr id="3" name="Text 1"/>
          <p:cNvSpPr/>
          <p:nvPr>
            <p:ph type="title"/>
          </p:nvPr>
        </p:nvSpPr>
        <p:spPr>
          <a:xfrm>
            <a:off x="812800" y="1153120"/>
            <a:ext cx="11379200"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1D2430"/>
                </a:solidFill>
                <a:latin typeface="Inter" pitchFamily="34" charset="0"/>
                <a:ea typeface="Inter" pitchFamily="34" charset="-122"/>
                <a:cs typeface="Inter" pitchFamily="34" charset="-120"/>
              </a:rPr>
              <a:t>Every second of flight finds as many people as possible</a:t>
            </a:r>
            <a:endParaRPr lang="en-US" sz="3200" dirty="0"/>
          </a:p>
        </p:txBody>
      </p:sp>
      <p:sp>
        <p:nvSpPr>
          <p:cNvPr id="4" name="Shape 2"/>
          <p:cNvSpPr/>
          <p:nvPr/>
        </p:nvSpPr>
        <p:spPr>
          <a:xfrm>
            <a:off x="815975" y="2009725"/>
            <a:ext cx="3380284" cy="2031802"/>
          </a:xfrm>
          <a:prstGeom prst="roundRect">
            <a:avLst>
              <a:gd name="adj" fmla="val 6094"/>
            </a:avLst>
          </a:prstGeom>
          <a:solidFill>
            <a:srgbClr val="FFFFFF"/>
          </a:solidFill>
          <a:ln w="6350">
            <a:solidFill>
              <a:srgbClr val="E4E8EE"/>
            </a:solidFill>
            <a:prstDash val="solid"/>
          </a:ln>
        </p:spPr>
      </p:sp>
      <p:sp>
        <p:nvSpPr>
          <p:cNvPr id="5" name="Text 3"/>
          <p:cNvSpPr/>
          <p:nvPr/>
        </p:nvSpPr>
        <p:spPr>
          <a:xfrm>
            <a:off x="1098550" y="2292300"/>
            <a:ext cx="2899588" cy="60444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D2430"/>
                </a:solidFill>
                <a:latin typeface="Inter" pitchFamily="34" charset="0"/>
                <a:ea typeface="Inter" pitchFamily="34" charset="-122"/>
                <a:cs typeface="Inter" pitchFamily="34" charset="-120"/>
              </a:rPr>
              <a:t>Lanes sized to the camera</a:t>
            </a:r>
            <a:endParaRPr lang="en-US" sz="1900" dirty="0"/>
          </a:p>
        </p:txBody>
      </p:sp>
      <p:sp>
        <p:nvSpPr>
          <p:cNvPr id="6" name="Text 4"/>
          <p:cNvSpPr/>
          <p:nvPr/>
        </p:nvSpPr>
        <p:spPr>
          <a:xfrm>
            <a:off x="1098550" y="2985641"/>
            <a:ext cx="2899588"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5A6B"/>
                </a:solidFill>
                <a:latin typeface="Inter" pitchFamily="34" charset="0"/>
                <a:ea typeface="Inter" pitchFamily="34" charset="-122"/>
                <a:cs typeface="Inter" pitchFamily="34" charset="-120"/>
              </a:rPr>
              <a:t>Each block is swept in back-and-forth lanes spaced to what the camera sees clearly.</a:t>
            </a:r>
            <a:endParaRPr lang="en-US" sz="1400" dirty="0"/>
          </a:p>
        </p:txBody>
      </p:sp>
      <p:sp>
        <p:nvSpPr>
          <p:cNvPr id="7" name="Shape 5"/>
          <p:cNvSpPr/>
          <p:nvPr/>
        </p:nvSpPr>
        <p:spPr>
          <a:xfrm>
            <a:off x="4405809" y="2009725"/>
            <a:ext cx="3380333" cy="2031802"/>
          </a:xfrm>
          <a:prstGeom prst="roundRect">
            <a:avLst>
              <a:gd name="adj" fmla="val 6094"/>
            </a:avLst>
          </a:prstGeom>
          <a:solidFill>
            <a:srgbClr val="FFFFFF"/>
          </a:solidFill>
          <a:ln w="6350">
            <a:solidFill>
              <a:srgbClr val="E4E8EE"/>
            </a:solidFill>
            <a:prstDash val="solid"/>
          </a:ln>
        </p:spPr>
      </p:sp>
      <p:sp>
        <p:nvSpPr>
          <p:cNvPr id="8" name="Text 6"/>
          <p:cNvSpPr/>
          <p:nvPr/>
        </p:nvSpPr>
        <p:spPr>
          <a:xfrm>
            <a:off x="4688384" y="2292300"/>
            <a:ext cx="2899639"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D2430"/>
                </a:solidFill>
                <a:latin typeface="Inter" pitchFamily="34" charset="0"/>
                <a:ea typeface="Inter" pitchFamily="34" charset="-122"/>
                <a:cs typeface="Inter" pitchFamily="34" charset="-120"/>
              </a:rPr>
              <a:t>Value per second</a:t>
            </a:r>
            <a:endParaRPr lang="en-US" sz="1900" dirty="0"/>
          </a:p>
        </p:txBody>
      </p:sp>
      <p:sp>
        <p:nvSpPr>
          <p:cNvPr id="9" name="Text 7"/>
          <p:cNvSpPr/>
          <p:nvPr/>
        </p:nvSpPr>
        <p:spPr>
          <a:xfrm>
            <a:off x="4688384" y="2696121"/>
            <a:ext cx="2899639"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5A6B"/>
                </a:solidFill>
                <a:latin typeface="Inter" pitchFamily="34" charset="0"/>
                <a:ea typeface="Inter" pitchFamily="34" charset="-122"/>
                <a:cs typeface="Inter" pitchFamily="34" charset="-120"/>
              </a:rPr>
              <a:t>Blocks are ranked by people per unit of search time, so nearby half-done blocks get finished.</a:t>
            </a:r>
            <a:endParaRPr lang="en-US" sz="1400" dirty="0"/>
          </a:p>
        </p:txBody>
      </p:sp>
      <p:sp>
        <p:nvSpPr>
          <p:cNvPr id="10" name="Shape 8"/>
          <p:cNvSpPr/>
          <p:nvPr/>
        </p:nvSpPr>
        <p:spPr>
          <a:xfrm>
            <a:off x="7995692" y="2009725"/>
            <a:ext cx="3380333" cy="2031802"/>
          </a:xfrm>
          <a:prstGeom prst="roundRect">
            <a:avLst>
              <a:gd name="adj" fmla="val 6094"/>
            </a:avLst>
          </a:prstGeom>
          <a:solidFill>
            <a:srgbClr val="FFFFFF"/>
          </a:solidFill>
          <a:ln w="6350">
            <a:solidFill>
              <a:srgbClr val="E4E8EE"/>
            </a:solidFill>
            <a:prstDash val="solid"/>
          </a:ln>
        </p:spPr>
      </p:sp>
      <p:sp>
        <p:nvSpPr>
          <p:cNvPr id="11" name="Text 9"/>
          <p:cNvSpPr/>
          <p:nvPr/>
        </p:nvSpPr>
        <p:spPr>
          <a:xfrm>
            <a:off x="8278267" y="2292300"/>
            <a:ext cx="2899639"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D2430"/>
                </a:solidFill>
                <a:latin typeface="Inter" pitchFamily="34" charset="0"/>
                <a:ea typeface="Inter" pitchFamily="34" charset="-122"/>
                <a:cs typeface="Inter" pitchFamily="34" charset="-120"/>
              </a:rPr>
              <a:t>No duplicate work</a:t>
            </a:r>
            <a:endParaRPr lang="en-US" sz="1900" dirty="0"/>
          </a:p>
        </p:txBody>
      </p:sp>
      <p:sp>
        <p:nvSpPr>
          <p:cNvPr id="12" name="Text 10"/>
          <p:cNvSpPr/>
          <p:nvPr/>
        </p:nvSpPr>
        <p:spPr>
          <a:xfrm>
            <a:off x="8278267" y="2696121"/>
            <a:ext cx="2899639"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5A6B"/>
                </a:solidFill>
                <a:latin typeface="Inter" pitchFamily="34" charset="0"/>
                <a:ea typeface="Inter" pitchFamily="34" charset="-122"/>
                <a:cs typeface="Inter" pitchFamily="34" charset="-120"/>
              </a:rPr>
              <a:t>Edges the next block's sweep will cover are left to it, not searched twice.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F6FE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DCFB"/>
                </a:solidFill>
                <a:latin typeface="Inter" pitchFamily="34" charset="0"/>
                <a:ea typeface="Inter" pitchFamily="34" charset="-122"/>
                <a:cs typeface="Inter" pitchFamily="34" charset="-120"/>
              </a:rPr>
              <a:t>MEASURED IN THE SIMULATION</a:t>
            </a:r>
            <a:endParaRPr lang="en-US" sz="1200" dirty="0"/>
          </a:p>
        </p:txBody>
      </p:sp>
      <p:sp>
        <p:nvSpPr>
          <p:cNvPr id="3" name="Text 1"/>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FFFFFF"/>
                </a:solidFill>
                <a:latin typeface="Inter" pitchFamily="34" charset="0"/>
                <a:ea typeface="Inter" pitchFamily="34" charset="-122"/>
                <a:cs typeface="Inter" pitchFamily="34" charset="-120"/>
              </a:rPr>
              <a:t>People found sooner, with less flying</a:t>
            </a:r>
            <a:endParaRPr lang="en-US" sz="3200" dirty="0"/>
          </a:p>
        </p:txBody>
      </p:sp>
      <p:sp>
        <p:nvSpPr>
          <p:cNvPr id="4" name="Text 2"/>
          <p:cNvSpPr/>
          <p:nvPr/>
        </p:nvSpPr>
        <p:spPr>
          <a:xfrm>
            <a:off x="812800" y="4203700"/>
            <a:ext cx="3418484" cy="787400"/>
          </a:xfrm>
          <a:prstGeom prst="rect">
            <a:avLst/>
          </a:prstGeom>
          <a:noFill/>
          <a:ln/>
        </p:spPr>
        <p:txBody>
          <a:bodyPr wrap="square" lIns="0" tIns="0" rIns="0" bIns="0" rtlCol="0" anchor="t">
            <a:normAutofit/>
          </a:bodyPr>
          <a:lstStyle/>
          <a:p>
            <a:pPr algn="l" indent="0" marL="0">
              <a:lnSpc>
                <a:spcPts val="6000"/>
              </a:lnSpc>
              <a:buNone/>
            </a:pPr>
            <a:r>
              <a:rPr lang="en-US" sz="6000" b="1" spc="-200" kern="0" dirty="0">
                <a:solidFill>
                  <a:srgbClr val="FFFFFF"/>
                </a:solidFill>
                <a:latin typeface="Inter" pitchFamily="34" charset="0"/>
                <a:ea typeface="Inter" pitchFamily="34" charset="-122"/>
                <a:cs typeface="Inter" pitchFamily="34" charset="-120"/>
              </a:rPr>
              <a:t>24%</a:t>
            </a:r>
            <a:endParaRPr lang="en-US" sz="6000" dirty="0"/>
          </a:p>
        </p:txBody>
      </p:sp>
      <p:sp>
        <p:nvSpPr>
          <p:cNvPr id="5" name="Text 3"/>
          <p:cNvSpPr/>
          <p:nvPr/>
        </p:nvSpPr>
        <p:spPr>
          <a:xfrm>
            <a:off x="812800" y="5041900"/>
            <a:ext cx="341848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FE8FD"/>
                </a:solidFill>
                <a:latin typeface="Inter" pitchFamily="34" charset="0"/>
                <a:ea typeface="Inter" pitchFamily="34" charset="-122"/>
                <a:cs typeface="Inter" pitchFamily="34" charset="-120"/>
              </a:rPr>
              <a:t>more survivors found in the first 5 minutes with the population map (16.0 → 19.8 of 25)</a:t>
            </a:r>
            <a:endParaRPr lang="en-US" sz="1500" dirty="0"/>
          </a:p>
        </p:txBody>
      </p:sp>
      <p:sp>
        <p:nvSpPr>
          <p:cNvPr id="6" name="Text 4"/>
          <p:cNvSpPr/>
          <p:nvPr/>
        </p:nvSpPr>
        <p:spPr>
          <a:xfrm>
            <a:off x="4436517" y="4203700"/>
            <a:ext cx="3418535" cy="787400"/>
          </a:xfrm>
          <a:prstGeom prst="rect">
            <a:avLst/>
          </a:prstGeom>
          <a:noFill/>
          <a:ln/>
        </p:spPr>
        <p:txBody>
          <a:bodyPr wrap="square" lIns="0" tIns="0" rIns="0" bIns="0" rtlCol="0" anchor="t">
            <a:normAutofit/>
          </a:bodyPr>
          <a:lstStyle/>
          <a:p>
            <a:pPr algn="l" indent="0" marL="0">
              <a:lnSpc>
                <a:spcPts val="6000"/>
              </a:lnSpc>
              <a:buNone/>
            </a:pPr>
            <a:r>
              <a:rPr lang="en-US" sz="6000" b="1" spc="-200" kern="0" dirty="0">
                <a:solidFill>
                  <a:srgbClr val="FFFFFF"/>
                </a:solidFill>
                <a:latin typeface="Inter" pitchFamily="34" charset="0"/>
                <a:ea typeface="Inter" pitchFamily="34" charset="-122"/>
                <a:cs typeface="Inter" pitchFamily="34" charset="-120"/>
              </a:rPr>
              <a:t>14%</a:t>
            </a:r>
            <a:endParaRPr lang="en-US" sz="6000" dirty="0"/>
          </a:p>
        </p:txBody>
      </p:sp>
      <p:sp>
        <p:nvSpPr>
          <p:cNvPr id="7" name="Text 5"/>
          <p:cNvSpPr/>
          <p:nvPr/>
        </p:nvSpPr>
        <p:spPr>
          <a:xfrm>
            <a:off x="4436517" y="5041900"/>
            <a:ext cx="341853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FE8FD"/>
                </a:solidFill>
                <a:latin typeface="Inter" pitchFamily="34" charset="0"/>
                <a:ea typeface="Inter" pitchFamily="34" charset="-122"/>
                <a:cs typeface="Inter" pitchFamily="34" charset="-120"/>
              </a:rPr>
              <a:t>shorter full missions after the search redesign (569 → 487 s)</a:t>
            </a:r>
            <a:endParaRPr lang="en-US" sz="1500" dirty="0"/>
          </a:p>
        </p:txBody>
      </p:sp>
      <p:sp>
        <p:nvSpPr>
          <p:cNvPr id="8" name="Text 6"/>
          <p:cNvSpPr/>
          <p:nvPr/>
        </p:nvSpPr>
        <p:spPr>
          <a:xfrm>
            <a:off x="8060283" y="4203700"/>
            <a:ext cx="3418484" cy="787400"/>
          </a:xfrm>
          <a:prstGeom prst="rect">
            <a:avLst/>
          </a:prstGeom>
          <a:noFill/>
          <a:ln/>
        </p:spPr>
        <p:txBody>
          <a:bodyPr wrap="square" lIns="0" tIns="0" rIns="0" bIns="0" rtlCol="0" anchor="t">
            <a:normAutofit/>
          </a:bodyPr>
          <a:lstStyle/>
          <a:p>
            <a:pPr algn="l" indent="0" marL="0">
              <a:lnSpc>
                <a:spcPts val="6000"/>
              </a:lnSpc>
              <a:buNone/>
            </a:pPr>
            <a:r>
              <a:rPr lang="en-US" sz="6000" b="1" spc="-200" kern="0" dirty="0">
                <a:solidFill>
                  <a:srgbClr val="FFFFFF"/>
                </a:solidFill>
                <a:latin typeface="Inter" pitchFamily="34" charset="0"/>
                <a:ea typeface="Inter" pitchFamily="34" charset="-122"/>
                <a:cs typeface="Inter" pitchFamily="34" charset="-120"/>
              </a:rPr>
              <a:t>0</a:t>
            </a:r>
            <a:endParaRPr lang="en-US" sz="6000" dirty="0"/>
          </a:p>
        </p:txBody>
      </p:sp>
      <p:sp>
        <p:nvSpPr>
          <p:cNvPr id="9" name="Text 7"/>
          <p:cNvSpPr/>
          <p:nvPr/>
        </p:nvSpPr>
        <p:spPr>
          <a:xfrm>
            <a:off x="8060283" y="5041900"/>
            <a:ext cx="3418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FE8FD"/>
                </a:solidFill>
                <a:latin typeface="Inter" pitchFamily="34" charset="0"/>
                <a:ea typeface="Inter" pitchFamily="34" charset="-122"/>
                <a:cs typeface="Inter" pitchFamily="34" charset="-120"/>
              </a:rPr>
              <a:t>flights through buildings, with or without a street map</a:t>
            </a:r>
            <a:endParaRPr lang="en-US" sz="15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DCFB"/>
                </a:solidFill>
                <a:latin typeface="Inter" pitchFamily="34" charset="0"/>
                <a:ea typeface="Inter" pitchFamily="34" charset="-122"/>
                <a:cs typeface="Inter" pitchFamily="34" charset="-120"/>
              </a:rPr>
              <a:t>20 simulated missions over real Metro Vancouver areas (Lonsdale, Metrotown), 6 drones, 25 survivors each.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2257772"/>
            <a:ext cx="58341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DYNAMIC ADAPTATION</a:t>
            </a:r>
            <a:endParaRPr lang="en-US" sz="1200" dirty="0"/>
          </a:p>
        </p:txBody>
      </p:sp>
      <p:sp>
        <p:nvSpPr>
          <p:cNvPr id="3" name="Text 1"/>
          <p:cNvSpPr/>
          <p:nvPr>
            <p:ph type="title"/>
          </p:nvPr>
        </p:nvSpPr>
        <p:spPr>
          <a:xfrm>
            <a:off x="812800" y="2674293"/>
            <a:ext cx="5834126" cy="91946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1D2430"/>
                </a:solidFill>
                <a:latin typeface="Inter" pitchFamily="34" charset="0"/>
                <a:ea typeface="Inter" pitchFamily="34" charset="-122"/>
                <a:cs typeface="Inter" pitchFamily="34" charset="-120"/>
              </a:rPr>
              <a:t>When a wave is coming, the flood zone goes first</a:t>
            </a:r>
            <a:endParaRPr lang="en-US" sz="3200" dirty="0"/>
          </a:p>
        </p:txBody>
      </p:sp>
      <p:sp>
        <p:nvSpPr>
          <p:cNvPr id="4" name="Text 2"/>
          <p:cNvSpPr/>
          <p:nvPr/>
        </p:nvSpPr>
        <p:spPr>
          <a:xfrm>
            <a:off x="812800" y="3771553"/>
            <a:ext cx="583412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In the tsunami scenario the swarm knows which streets will flood and how long is left. It searches those first and rescues people before the water arrives.</a:t>
            </a:r>
            <a:endParaRPr lang="en-US" sz="1500" dirty="0"/>
          </a:p>
        </p:txBody>
      </p:sp>
      <p:sp>
        <p:nvSpPr>
          <p:cNvPr id="5" name="Shape 3"/>
          <p:cNvSpPr/>
          <p:nvPr/>
        </p:nvSpPr>
        <p:spPr>
          <a:xfrm>
            <a:off x="6937375" y="1847949"/>
            <a:ext cx="4438650" cy="3162102"/>
          </a:xfrm>
          <a:prstGeom prst="roundRect">
            <a:avLst>
              <a:gd name="adj" fmla="val 4719"/>
            </a:avLst>
          </a:prstGeom>
          <a:solidFill>
            <a:srgbClr val="FFFFFF"/>
          </a:solidFill>
          <a:ln w="6350">
            <a:solidFill>
              <a:srgbClr val="E4E8EE"/>
            </a:solidFill>
            <a:prstDash val="solid"/>
          </a:ln>
          <a:effectLst>
            <a:outerShdw sx="100000" sy="100000" kx="0" ky="0" algn="bl" rotWithShape="0" blurRad="12700" dist="6350" dir="5400000">
              <a:srgbClr val="141E32">
                <a:alpha val="5000"/>
              </a:srgbClr>
            </a:outerShdw>
          </a:effectLst>
        </p:spPr>
      </p:sp>
      <p:pic>
        <p:nvPicPr>
          <p:cNvPr id="6" name="Image 0" descr="Lightning">    </p:cNvPr>
          <p:cNvPicPr>
            <a:picLocks noChangeAspect="1"/>
          </p:cNvPicPr>
          <p:nvPr/>
        </p:nvPicPr>
        <p:blipFill>
          <a:blip r:embed="rId1"/>
          <a:srcRect l="0" r="0" t="0" b="0"/>
          <a:stretch/>
        </p:blipFill>
        <p:spPr>
          <a:xfrm>
            <a:off x="7270750" y="2181324"/>
            <a:ext cx="406400" cy="406400"/>
          </a:xfrm>
          <a:prstGeom prst="rect">
            <a:avLst/>
          </a:prstGeom>
        </p:spPr>
      </p:pic>
      <p:sp>
        <p:nvSpPr>
          <p:cNvPr id="7" name="Text 4"/>
          <p:cNvSpPr/>
          <p:nvPr/>
        </p:nvSpPr>
        <p:spPr>
          <a:xfrm>
            <a:off x="7270750" y="2740124"/>
            <a:ext cx="38850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0"/>
                </a:solidFill>
                <a:latin typeface="Inter" pitchFamily="34" charset="0"/>
                <a:ea typeface="Inter" pitchFamily="34" charset="-122"/>
                <a:cs typeface="Inter" pitchFamily="34" charset="-120"/>
              </a:rPr>
              <a:t>Real-time re-planning</a:t>
            </a:r>
            <a:endParaRPr lang="en-US" sz="2000" dirty="0"/>
          </a:p>
        </p:txBody>
      </p:sp>
      <p:sp>
        <p:nvSpPr>
          <p:cNvPr id="8" name="Text 5"/>
          <p:cNvSpPr/>
          <p:nvPr/>
        </p:nvSpPr>
        <p:spPr>
          <a:xfrm>
            <a:off x="7270750" y="3197324"/>
            <a:ext cx="3885057"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5A6B"/>
                </a:solidFill>
                <a:latin typeface="Inter" pitchFamily="34" charset="0"/>
                <a:ea typeface="Inter" pitchFamily="34" charset="-122"/>
                <a:cs typeface="Inter" pitchFamily="34" charset="-120"/>
              </a:rPr>
              <a:t>Urgency rises as impact nears, and drones are reassigned on the fly with no operator input.</a:t>
            </a:r>
            <a:endParaRPr lang="en-US" sz="1400" dirty="0"/>
          </a:p>
        </p:txBody>
      </p:sp>
      <p:sp>
        <p:nvSpPr>
          <p:cNvPr id="9" name="Text 6"/>
          <p:cNvSpPr/>
          <p:nvPr/>
        </p:nvSpPr>
        <p:spPr>
          <a:xfrm>
            <a:off x="7270750" y="4123035"/>
            <a:ext cx="3771900" cy="553641"/>
          </a:xfrm>
          <a:prstGeom prst="roundRect">
            <a:avLst>
              <a:gd name="adj" fmla="val 13763"/>
            </a:avLst>
          </a:prstGeom>
          <a:solidFill>
            <a:srgbClr val="E8EFFF"/>
          </a:solidFill>
          <a:ln/>
        </p:spPr>
        <p:txBody>
          <a:bodyPr wrap="square" lIns="104682" tIns="41182" rIns="0" bIns="15782" rtlCol="0" anchor="t">
            <a:normAutofit/>
          </a:bodyPr>
          <a:lstStyle/>
          <a:p>
            <a:pPr algn="l" indent="0" marL="0">
              <a:lnSpc>
                <a:spcPts val="1680"/>
              </a:lnSpc>
              <a:buNone/>
            </a:pPr>
            <a:r>
              <a:rPr lang="en-US" sz="1200" b="1" dirty="0">
                <a:solidFill>
                  <a:srgbClr val="2F6FED"/>
                </a:solidFill>
                <a:latin typeface="Inter" pitchFamily="34" charset="0"/>
                <a:ea typeface="Inter" pitchFamily="34" charset="-122"/>
                <a:cs typeface="Inter" pitchFamily="34" charset="-120"/>
              </a:rPr>
              <a:t>Same planner: wildfire edges or a flash flood next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5"/>
        </a:solidFill>
      </p:bgPr>
    </p:bg>
    <p:spTree>
      <p:nvGrpSpPr>
        <p:cNvPr id="1" name=""/>
        <p:cNvGrpSpPr/>
        <p:nvPr/>
      </p:nvGrpSpPr>
      <p:grpSpPr>
        <a:xfrm>
          <a:off x="0" y="0"/>
          <a:ext cx="0" cy="0"/>
          <a:chOff x="0" y="0"/>
          <a:chExt cx="0" cy="0"/>
        </a:xfrm>
      </p:grpSpPr>
      <p:sp>
        <p:nvSpPr>
          <p:cNvPr id="2" name="Shape 0"/>
          <p:cNvSpPr/>
          <p:nvPr/>
        </p:nvSpPr>
        <p:spPr>
          <a:xfrm>
            <a:off x="812800" y="2165350"/>
            <a:ext cx="5207000" cy="2527300"/>
          </a:xfrm>
          <a:prstGeom prst="roundRect">
            <a:avLst>
              <a:gd name="adj" fmla="val 6030"/>
            </a:avLst>
          </a:prstGeom>
          <a:solidFill>
            <a:srgbClr val="FFFFFF"/>
          </a:solidFill>
          <a:ln/>
          <a:effectLst>
            <a:outerShdw sx="100000" sy="100000" kx="0" ky="0" algn="bl" rotWithShape="0" blurRad="25400" dist="12700" dir="5400000">
              <a:srgbClr val="141E32">
                <a:alpha val="6000"/>
              </a:srgbClr>
            </a:outerShdw>
          </a:effectLst>
        </p:spPr>
      </p:sp>
      <p:pic>
        <p:nvPicPr>
          <p:cNvPr id="3" name="Image 0" descr="Challenge mode: the player's drone in third person over North Vancouver, scoreboard showing You 0 against Algorithm 2 with 2 minutes 10 seconds left">    </p:cNvPr>
          <p:cNvPicPr>
            <a:picLocks noChangeAspect="1"/>
          </p:cNvPicPr>
          <p:nvPr/>
        </p:nvPicPr>
        <p:blipFill>
          <a:blip r:embed="rId1"/>
          <a:srcRect l="62" r="62" t="0" b="0"/>
          <a:stretch/>
        </p:blipFill>
        <p:spPr>
          <a:xfrm>
            <a:off x="914400" y="2266950"/>
            <a:ext cx="5003800" cy="2324100"/>
          </a:xfrm>
          <a:prstGeom prst="roundRect">
            <a:avLst>
              <a:gd name="adj" fmla="val 3279"/>
            </a:avLst>
          </a:prstGeom>
        </p:spPr>
      </p:pic>
      <p:sp>
        <p:nvSpPr>
          <p:cNvPr id="4" name="Text 1"/>
          <p:cNvSpPr/>
          <p:nvPr/>
        </p:nvSpPr>
        <p:spPr>
          <a:xfrm>
            <a:off x="6477000" y="2103438"/>
            <a:ext cx="504926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CHALLENGE MODE</a:t>
            </a:r>
            <a:endParaRPr lang="en-US" sz="1200" dirty="0"/>
          </a:p>
        </p:txBody>
      </p:sp>
      <p:sp>
        <p:nvSpPr>
          <p:cNvPr id="5" name="Text 2"/>
          <p:cNvSpPr/>
          <p:nvPr>
            <p:ph type="title"/>
          </p:nvPr>
        </p:nvSpPr>
        <p:spPr>
          <a:xfrm>
            <a:off x="6477000" y="2519958"/>
            <a:ext cx="5049266"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1D2430"/>
                </a:solidFill>
                <a:latin typeface="Inter" pitchFamily="34" charset="0"/>
                <a:ea typeface="Inter" pitchFamily="34" charset="-122"/>
                <a:cs typeface="Inter" pitchFamily="34" charset="-120"/>
              </a:rPr>
              <a:t>Fly against the algorithm</a:t>
            </a:r>
            <a:endParaRPr lang="en-US" sz="3200" dirty="0"/>
          </a:p>
        </p:txBody>
      </p:sp>
      <p:sp>
        <p:nvSpPr>
          <p:cNvPr id="6" name="Text 3"/>
          <p:cNvSpPr/>
          <p:nvPr/>
        </p:nvSpPr>
        <p:spPr>
          <a:xfrm>
            <a:off x="6477000" y="3170188"/>
            <a:ext cx="504926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One drone is yours (WASD), one is the algorithm's: same truck, speed, camera and battery. Most survivors in 2:30 wins.</a:t>
            </a:r>
            <a:endParaRPr lang="en-US" sz="1500" dirty="0"/>
          </a:p>
        </p:txBody>
      </p:sp>
      <p:sp>
        <p:nvSpPr>
          <p:cNvPr id="7" name="Text 4"/>
          <p:cNvSpPr/>
          <p:nvPr/>
        </p:nvSpPr>
        <p:spPr>
          <a:xfrm>
            <a:off x="6477000" y="4202063"/>
            <a:ext cx="504926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Every game is stored in Snowflake, building a public record of human against algorithm.</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nter" pitchFamily="34" charset="0"/>
                <a:ea typeface="Inter" pitchFamily="34" charset="-122"/>
                <a:cs typeface="Inter" pitchFamily="34" charset="-120"/>
              </a:rPr>
              <a:t>WHAT COMES NEXT</a:t>
            </a:r>
            <a:endParaRPr lang="en-US" sz="1200" dirty="0"/>
          </a:p>
        </p:txBody>
      </p:sp>
      <p:sp>
        <p:nvSpPr>
          <p:cNvPr id="3" name="Text 1"/>
          <p:cNvSpPr/>
          <p:nvPr>
            <p:ph type="title"/>
          </p:nvPr>
        </p:nvSpPr>
        <p:spPr>
          <a:xfrm>
            <a:off x="812800" y="1153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spc="-75" kern="0" dirty="0">
                <a:solidFill>
                  <a:srgbClr val="1D2430"/>
                </a:solidFill>
                <a:latin typeface="Inter" pitchFamily="34" charset="0"/>
                <a:ea typeface="Inter" pitchFamily="34" charset="-122"/>
                <a:cs typeface="Inter" pitchFamily="34" charset="-120"/>
              </a:rPr>
              <a:t>One swarm brain for every kind of disaster</a:t>
            </a:r>
            <a:endParaRPr lang="en-US" sz="3200" dirty="0"/>
          </a:p>
        </p:txBody>
      </p:sp>
      <p:sp>
        <p:nvSpPr>
          <p:cNvPr id="4" name="Shape 2"/>
          <p:cNvSpPr/>
          <p:nvPr/>
        </p:nvSpPr>
        <p:spPr>
          <a:xfrm>
            <a:off x="815975" y="2009725"/>
            <a:ext cx="3380284" cy="2635250"/>
          </a:xfrm>
          <a:prstGeom prst="roundRect">
            <a:avLst>
              <a:gd name="adj" fmla="val 4699"/>
            </a:avLst>
          </a:prstGeom>
          <a:solidFill>
            <a:srgbClr val="FFFFFF"/>
          </a:solidFill>
          <a:ln w="6350">
            <a:solidFill>
              <a:srgbClr val="E4E8EE"/>
            </a:solidFill>
            <a:prstDash val="solid"/>
          </a:ln>
        </p:spPr>
      </p:sp>
      <p:pic>
        <p:nvPicPr>
          <p:cNvPr id="5" name="Image 0" descr="Warning">    </p:cNvPr>
          <p:cNvPicPr>
            <a:picLocks noChangeAspect="1"/>
          </p:cNvPicPr>
          <p:nvPr/>
        </p:nvPicPr>
        <p:blipFill>
          <a:blip r:embed="rId1"/>
          <a:srcRect l="0" r="0" t="0" b="0"/>
          <a:stretch/>
        </p:blipFill>
        <p:spPr>
          <a:xfrm>
            <a:off x="1123950" y="2317700"/>
            <a:ext cx="355600" cy="355600"/>
          </a:xfrm>
          <a:prstGeom prst="rect">
            <a:avLst/>
          </a:prstGeom>
        </p:spPr>
      </p:pic>
      <p:sp>
        <p:nvSpPr>
          <p:cNvPr id="6" name="Text 3"/>
          <p:cNvSpPr/>
          <p:nvPr/>
        </p:nvSpPr>
        <p:spPr>
          <a:xfrm>
            <a:off x="1123950" y="2800300"/>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0"/>
                </a:solidFill>
                <a:latin typeface="Inter" pitchFamily="34" charset="0"/>
                <a:ea typeface="Inter" pitchFamily="34" charset="-122"/>
                <a:cs typeface="Inter" pitchFamily="34" charset="-120"/>
              </a:rPr>
              <a:t>Wildfire tracking</a:t>
            </a:r>
            <a:endParaRPr lang="en-US" sz="2000" dirty="0"/>
          </a:p>
        </p:txBody>
      </p:sp>
      <p:sp>
        <p:nvSpPr>
          <p:cNvPr id="7" name="Text 4"/>
          <p:cNvSpPr/>
          <p:nvPr/>
        </p:nvSpPr>
        <p:spPr>
          <a:xfrm>
            <a:off x="1123950" y="3232100"/>
            <a:ext cx="2847264"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Many drones watch fire edges and smoke from many angles at once, far richer than one helicopter.</a:t>
            </a:r>
            <a:endParaRPr lang="en-US" sz="1500" dirty="0"/>
          </a:p>
        </p:txBody>
      </p:sp>
      <p:sp>
        <p:nvSpPr>
          <p:cNvPr id="8" name="Shape 5"/>
          <p:cNvSpPr/>
          <p:nvPr/>
        </p:nvSpPr>
        <p:spPr>
          <a:xfrm>
            <a:off x="4405809" y="2009725"/>
            <a:ext cx="3380333" cy="2635250"/>
          </a:xfrm>
          <a:prstGeom prst="roundRect">
            <a:avLst>
              <a:gd name="adj" fmla="val 4699"/>
            </a:avLst>
          </a:prstGeom>
          <a:solidFill>
            <a:srgbClr val="FFFFFF"/>
          </a:solidFill>
          <a:ln w="6350">
            <a:solidFill>
              <a:srgbClr val="E4E8EE"/>
            </a:solidFill>
            <a:prstDash val="solid"/>
          </a:ln>
        </p:spPr>
      </p:sp>
      <p:pic>
        <p:nvPicPr>
          <p:cNvPr id="9" name="Image 1" descr="Cloud">    </p:cNvPr>
          <p:cNvPicPr>
            <a:picLocks noChangeAspect="1"/>
          </p:cNvPicPr>
          <p:nvPr/>
        </p:nvPicPr>
        <p:blipFill>
          <a:blip r:embed="rId2"/>
          <a:srcRect l="0" r="0" t="0" b="0"/>
          <a:stretch/>
        </p:blipFill>
        <p:spPr>
          <a:xfrm>
            <a:off x="4713784" y="2317700"/>
            <a:ext cx="355600" cy="355600"/>
          </a:xfrm>
          <a:prstGeom prst="rect">
            <a:avLst/>
          </a:prstGeom>
        </p:spPr>
      </p:pic>
      <p:sp>
        <p:nvSpPr>
          <p:cNvPr id="10" name="Text 6"/>
          <p:cNvSpPr/>
          <p:nvPr/>
        </p:nvSpPr>
        <p:spPr>
          <a:xfrm>
            <a:off x="4713784" y="2800300"/>
            <a:ext cx="2847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0"/>
                </a:solidFill>
                <a:latin typeface="Inter" pitchFamily="34" charset="0"/>
                <a:ea typeface="Inter" pitchFamily="34" charset="-122"/>
                <a:cs typeface="Inter" pitchFamily="34" charset="-120"/>
              </a:rPr>
              <a:t>Floods and storms</a:t>
            </a:r>
            <a:endParaRPr lang="en-US" sz="2000" dirty="0"/>
          </a:p>
        </p:txBody>
      </p:sp>
      <p:sp>
        <p:nvSpPr>
          <p:cNvPr id="11" name="Text 7"/>
          <p:cNvSpPr/>
          <p:nvPr/>
        </p:nvSpPr>
        <p:spPr>
          <a:xfrm>
            <a:off x="4713784" y="3232100"/>
            <a:ext cx="284731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Live satellite passes update the flood map while the swarm is in the air.</a:t>
            </a:r>
            <a:endParaRPr lang="en-US" sz="1500" dirty="0"/>
          </a:p>
        </p:txBody>
      </p:sp>
      <p:sp>
        <p:nvSpPr>
          <p:cNvPr id="12" name="Shape 8"/>
          <p:cNvSpPr/>
          <p:nvPr/>
        </p:nvSpPr>
        <p:spPr>
          <a:xfrm>
            <a:off x="7995692" y="2009725"/>
            <a:ext cx="3380333" cy="2635250"/>
          </a:xfrm>
          <a:prstGeom prst="roundRect">
            <a:avLst>
              <a:gd name="adj" fmla="val 4699"/>
            </a:avLst>
          </a:prstGeom>
          <a:solidFill>
            <a:srgbClr val="FFFFFF"/>
          </a:solidFill>
          <a:ln w="6350">
            <a:solidFill>
              <a:srgbClr val="E4E8EE"/>
            </a:solidFill>
            <a:prstDash val="solid"/>
          </a:ln>
        </p:spPr>
      </p:sp>
      <p:pic>
        <p:nvPicPr>
          <p:cNvPr id="13" name="Image 2" descr="Tool">    </p:cNvPr>
          <p:cNvPicPr>
            <a:picLocks noChangeAspect="1"/>
          </p:cNvPicPr>
          <p:nvPr/>
        </p:nvPicPr>
        <p:blipFill>
          <a:blip r:embed="rId3"/>
          <a:srcRect l="0" r="0" t="0" b="0"/>
          <a:stretch/>
        </p:blipFill>
        <p:spPr>
          <a:xfrm>
            <a:off x="8303667" y="2317700"/>
            <a:ext cx="355600" cy="355600"/>
          </a:xfrm>
          <a:prstGeom prst="rect">
            <a:avLst/>
          </a:prstGeom>
        </p:spPr>
      </p:pic>
      <p:sp>
        <p:nvSpPr>
          <p:cNvPr id="14" name="Text 9"/>
          <p:cNvSpPr/>
          <p:nvPr/>
        </p:nvSpPr>
        <p:spPr>
          <a:xfrm>
            <a:off x="8303667" y="2800300"/>
            <a:ext cx="2847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0"/>
                </a:solidFill>
                <a:latin typeface="Inter" pitchFamily="34" charset="0"/>
                <a:ea typeface="Inter" pitchFamily="34" charset="-122"/>
                <a:cs typeface="Inter" pitchFamily="34" charset="-120"/>
              </a:rPr>
              <a:t>Real drones</a:t>
            </a:r>
            <a:endParaRPr lang="en-US" sz="2000" dirty="0"/>
          </a:p>
        </p:txBody>
      </p:sp>
      <p:sp>
        <p:nvSpPr>
          <p:cNvPr id="15" name="Text 10"/>
          <p:cNvSpPr/>
          <p:nvPr/>
        </p:nvSpPr>
        <p:spPr>
          <a:xfrm>
            <a:off x="8303667" y="3232100"/>
            <a:ext cx="284731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F5A6B"/>
                </a:solidFill>
                <a:latin typeface="Inter" pitchFamily="34" charset="0"/>
                <a:ea typeface="Inter" pitchFamily="34" charset="-122"/>
                <a:cs typeface="Inter" pitchFamily="34" charset="-120"/>
              </a:rPr>
              <a:t>The same planner, driving real hardware through a standard flight-control link.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2430"/>
        </a:solidFill>
      </p:bgPr>
    </p:bg>
    <p:spTree>
      <p:nvGrpSpPr>
        <p:cNvPr id="1" name=""/>
        <p:cNvGrpSpPr/>
        <p:nvPr/>
      </p:nvGrpSpPr>
      <p:grpSpPr>
        <a:xfrm>
          <a:off x="0" y="0"/>
          <a:ext cx="0" cy="0"/>
          <a:chOff x="0" y="0"/>
          <a:chExt cx="0" cy="0"/>
        </a:xfrm>
      </p:grpSpPr>
      <p:sp>
        <p:nvSpPr>
          <p:cNvPr id="2" name="Text 0"/>
          <p:cNvSpPr/>
          <p:nvPr/>
        </p:nvSpPr>
        <p:spPr>
          <a:xfrm>
            <a:off x="812800" y="1825030"/>
            <a:ext cx="724687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0F7"/>
                </a:solidFill>
                <a:latin typeface="Inter" pitchFamily="34" charset="0"/>
                <a:ea typeface="Inter" pitchFamily="34" charset="-122"/>
                <a:cs typeface="Inter" pitchFamily="34" charset="-120"/>
              </a:rPr>
              <a:t>RESCUE DRONE SWARM</a:t>
            </a:r>
            <a:endParaRPr lang="en-US" sz="1200" dirty="0"/>
          </a:p>
        </p:txBody>
      </p:sp>
      <p:sp>
        <p:nvSpPr>
          <p:cNvPr id="3" name="Text 1"/>
          <p:cNvSpPr/>
          <p:nvPr>
            <p:ph type="title"/>
          </p:nvPr>
        </p:nvSpPr>
        <p:spPr>
          <a:xfrm>
            <a:off x="812800" y="2266950"/>
            <a:ext cx="7246874" cy="1145480"/>
          </a:xfrm>
          <a:prstGeom prst="rect">
            <a:avLst/>
          </a:prstGeom>
          <a:noFill/>
          <a:ln/>
        </p:spPr>
        <p:txBody>
          <a:bodyPr wrap="square" lIns="0" tIns="0" rIns="0" bIns="0" rtlCol="0" anchor="t">
            <a:normAutofit/>
          </a:bodyPr>
          <a:lstStyle/>
          <a:p>
            <a:pPr algn="l" indent="0" marL="0">
              <a:lnSpc>
                <a:spcPts val="4410"/>
              </a:lnSpc>
              <a:buNone/>
            </a:pPr>
            <a:r>
              <a:rPr lang="en-US" sz="4200" b="1" i="0" spc="-125" kern="0" dirty="0">
                <a:solidFill>
                  <a:srgbClr val="FFFFFF"/>
                </a:solidFill>
                <a:latin typeface="Inter" pitchFamily="34" charset="0"/>
                <a:ea typeface="Inter" pitchFamily="34" charset="-122"/>
                <a:cs typeface="Inter" pitchFamily="34" charset="-120"/>
              </a:rPr>
              <a:t>Saving lives through autonomous intelligence</a:t>
            </a:r>
            <a:endParaRPr lang="en-US" sz="4200" dirty="0"/>
          </a:p>
        </p:txBody>
      </p:sp>
      <p:sp>
        <p:nvSpPr>
          <p:cNvPr id="4" name="Text 2"/>
          <p:cNvSpPr/>
          <p:nvPr/>
        </p:nvSpPr>
        <p:spPr>
          <a:xfrm>
            <a:off x="812800" y="3615630"/>
            <a:ext cx="7246874"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3CBD8"/>
                </a:solidFill>
                <a:latin typeface="Inter" pitchFamily="34" charset="0"/>
                <a:ea typeface="Inter" pitchFamily="34" charset="-122"/>
                <a:cs typeface="Inter" pitchFamily="34" charset="-120"/>
              </a:rPr>
              <a:t>From slow, expensive manned missions to coordinated drone swarms that adapt to any disaster.</a:t>
            </a:r>
            <a:endParaRPr lang="en-US" sz="1600" dirty="0"/>
          </a:p>
        </p:txBody>
      </p:sp>
      <p:sp>
        <p:nvSpPr>
          <p:cNvPr id="5" name="Text 3"/>
          <p:cNvSpPr/>
          <p:nvPr/>
        </p:nvSpPr>
        <p:spPr>
          <a:xfrm>
            <a:off x="812800" y="4433491"/>
            <a:ext cx="72468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Inter" pitchFamily="34" charset="0"/>
                <a:ea typeface="Inter" pitchFamily="34" charset="-122"/>
                <a:cs typeface="Inter" pitchFamily="34" charset="-120"/>
              </a:rPr>
              <a:t>Try it live: </a:t>
            </a:r>
            <a:r>
              <a:rPr lang="en-US" sz="1500" b="1" u="sng" dirty="0">
                <a:solidFill>
                  <a:srgbClr val="FFFFFF"/>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rescue-drone-swarm.vercel.app</a:t>
            </a:r>
            <a:endParaRPr lang="en-US" sz="1500" dirty="0"/>
          </a:p>
        </p:txBody>
      </p:sp>
      <p:sp>
        <p:nvSpPr>
          <p:cNvPr id="6" name="Text 4"/>
          <p:cNvSpPr/>
          <p:nvPr/>
        </p:nvSpPr>
        <p:spPr>
          <a:xfrm>
            <a:off x="812800" y="4801791"/>
            <a:ext cx="724687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BD8"/>
                </a:solidFill>
                <a:latin typeface="Inter" pitchFamily="34" charset="0"/>
                <a:ea typeface="Inter" pitchFamily="34" charset="-122"/>
                <a:cs typeface="Inter" pitchFamily="34" charset="-120"/>
              </a:rPr>
              <a:t>github.com/PutridThunder/Rescue_Drone_Swarm</a:t>
            </a:r>
            <a:endParaRPr lang="en-US" sz="1300" dirty="0"/>
          </a:p>
        </p:txBody>
      </p:sp>
      <p:sp>
        <p:nvSpPr>
          <p:cNvPr id="7" name="Shape 5"/>
          <p:cNvSpPr/>
          <p:nvPr/>
        </p:nvSpPr>
        <p:spPr>
          <a:xfrm>
            <a:off x="8458200" y="1487190"/>
            <a:ext cx="2921000" cy="3883571"/>
          </a:xfrm>
          <a:prstGeom prst="roundRect">
            <a:avLst>
              <a:gd name="adj" fmla="val 6087"/>
            </a:avLst>
          </a:prstGeom>
          <a:solidFill>
            <a:srgbClr val="FFFFFF"/>
          </a:solidFill>
          <a:ln/>
        </p:spPr>
      </p:sp>
      <p:pic>
        <p:nvPicPr>
          <p:cNvPr id="8" name="Image 0" descr="QR code linking to rescue-drone-swarm.vercel.app">    </p:cNvPr>
          <p:cNvPicPr>
            <a:picLocks noChangeAspect="1"/>
          </p:cNvPicPr>
          <p:nvPr/>
        </p:nvPicPr>
        <p:blipFill>
          <a:blip r:embed="rId2"/>
          <a:srcRect l="0" r="0" t="0" b="0"/>
          <a:stretch/>
        </p:blipFill>
        <p:spPr>
          <a:xfrm>
            <a:off x="8686800" y="1715790"/>
            <a:ext cx="2463800" cy="2463800"/>
          </a:xfrm>
          <a:prstGeom prst="rect">
            <a:avLst/>
          </a:prstGeom>
        </p:spPr>
      </p:pic>
      <p:sp>
        <p:nvSpPr>
          <p:cNvPr id="9" name="Text 6"/>
          <p:cNvSpPr/>
          <p:nvPr/>
        </p:nvSpPr>
        <p:spPr>
          <a:xfrm>
            <a:off x="9307974" y="4331990"/>
            <a:ext cx="122140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D2430"/>
                </a:solidFill>
                <a:latin typeface="Inter" pitchFamily="34" charset="0"/>
                <a:ea typeface="Inter" pitchFamily="34" charset="-122"/>
                <a:cs typeface="Inter" pitchFamily="34" charset="-120"/>
              </a:rPr>
              <a:t>Scan to try it</a:t>
            </a:r>
            <a:endParaRPr lang="en-US" sz="1300" dirty="0"/>
          </a:p>
        </p:txBody>
      </p:sp>
      <p:sp>
        <p:nvSpPr>
          <p:cNvPr id="10" name="Text 7"/>
          <p:cNvSpPr/>
          <p:nvPr/>
        </p:nvSpPr>
        <p:spPr>
          <a:xfrm>
            <a:off x="8649843" y="4715520"/>
            <a:ext cx="2537714"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577"/>
                </a:solidFill>
                <a:latin typeface="Inter" pitchFamily="34" charset="0"/>
                <a:ea typeface="Inter" pitchFamily="34" charset="-122"/>
                <a:cs typeface="Inter" pitchFamily="34" charset="-120"/>
              </a:rPr>
              <a:t>For the best experience, use a laptop</a:t>
            </a:r>
            <a:endParaRPr lang="en-US" sz="1200" dirty="0"/>
          </a:p>
        </p:txBody>
      </p:sp>
    </p:spTree>
  </p:cSld>
  <p:clrMapOvr>
    <a:masterClrMapping/>
  </p:clrMapOvr>
</p:sld>
</file>

<file path=ppt/theme/theme1.xml><?xml version="1.0" encoding="utf-8"?>
<a:theme xmlns:a="http://schemas.openxmlformats.org/drawingml/2006/main" name="Rescue Drone Swarm">
  <a:themeElements>
    <a:clrScheme name="Rescue Drone Swarm">
      <a:dk1>
        <a:srgbClr val="1D2430"/>
      </a:dk1>
      <a:lt1>
        <a:srgbClr val="EEF1F5"/>
      </a:lt1>
      <a:dk2>
        <a:srgbClr val="515761"/>
      </a:dk2>
      <a:lt2>
        <a:srgbClr val="D9DDE1"/>
      </a:lt2>
      <a:accent1>
        <a:srgbClr val="2F6FED"/>
      </a:accent1>
      <a:accent2>
        <a:srgbClr val="CFDCFB"/>
      </a:accent2>
      <a:accent3>
        <a:srgbClr val="14805A"/>
      </a:accent3>
      <a:accent4>
        <a:srgbClr val="8FB0F7"/>
      </a:accent4>
      <a:accent5>
        <a:srgbClr val="4F5A6B"/>
      </a:accent5>
      <a:accent6>
        <a:srgbClr val="C3CBD8"/>
      </a:accent6>
      <a:hlink>
        <a:srgbClr val="0563C1"/>
      </a:hlink>
      <a:folHlink>
        <a:srgbClr val="954F72"/>
      </a:folHlink>
    </a:clrScheme>
    <a:fontScheme name="Rescue Drone Swarm">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Rescue Drone Swarm</dc:title>
  <dc:subject/>
  <dc:creator/>
  <cp:lastModifiedBy/>
  <cp:revision>1</cp:revision>
  <dcterms:created xsi:type="dcterms:W3CDTF">2026-10-04T18:07:56Z</dcterms:created>
  <dcterms:modified xsi:type="dcterms:W3CDTF">2026-10-04T18:07:56Z</dcterms:modified>
</cp:coreProperties>
</file>